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651760"/>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68680"/>
            <a:ext cx="10972800" cy="1645920"/>
          </a:xfrm>
          <a:prstGeom prst="rect">
            <a:avLst/>
          </a:prstGeom>
          <a:noFill/>
        </p:spPr>
        <p:txBody>
          <a:bodyPr wrap="square">
            <a:spAutoFit/>
          </a:bodyPr>
          <a:lstStyle/>
          <a:p>
            <a:pPr algn="l">
              <a:spcAft>
                <a:spcPts val="600"/>
              </a:spcAft>
            </a:pPr>
            <a:r>
              <a:rPr sz="3400" b="1" i="0">
                <a:solidFill>
                  <a:srgbClr val="FFFFFF"/>
                </a:solidFill>
                <a:latin typeface="Calibri"/>
              </a:rPr>
              <a:t>Randomized Online-DRL vs Online-DRL</a:t>
            </a:r>
          </a:p>
          <a:p>
            <a:pPr algn="l">
              <a:spcAft>
                <a:spcPts val="0"/>
              </a:spcAft>
            </a:pPr>
            <a:r>
              <a:rPr sz="2000" b="0" i="0">
                <a:solidFill>
                  <a:srgbClr val="C9D8F0"/>
                </a:solidFill>
                <a:latin typeface="Calibri"/>
              </a:rPr>
              <a:t>What improves, what it costs, and how every metric is computed</a:t>
            </a:r>
          </a:p>
        </p:txBody>
      </p:sp>
      <p:sp>
        <p:nvSpPr>
          <p:cNvPr id="4" name="TextBox 3"/>
          <p:cNvSpPr txBox="1"/>
          <p:nvPr/>
        </p:nvSpPr>
        <p:spPr>
          <a:xfrm>
            <a:off x="731520" y="3017520"/>
            <a:ext cx="10698480" cy="2377440"/>
          </a:xfrm>
          <a:prstGeom prst="rect">
            <a:avLst/>
          </a:prstGeom>
          <a:noFill/>
        </p:spPr>
        <p:txBody>
          <a:bodyPr wrap="square">
            <a:spAutoFit/>
          </a:bodyPr>
          <a:lstStyle/>
          <a:p>
            <a:pPr algn="l">
              <a:spcAft>
                <a:spcPts val="600"/>
              </a:spcAft>
            </a:pPr>
            <a:r>
              <a:rPr sz="1500" b="0" i="0">
                <a:solidFill>
                  <a:srgbClr val="595959"/>
                </a:solidFill>
                <a:latin typeface="Calibri"/>
              </a:rPr>
              <a:t>Evidence from drl-sim - the simulator of</a:t>
            </a:r>
          </a:p>
          <a:p>
            <a:pPr algn="l">
              <a:spcAft>
                <a:spcPts val="600"/>
              </a:spcAft>
            </a:pPr>
            <a:r>
              <a:rPr sz="1500" b="0" i="0">
                <a:solidFill>
                  <a:srgbClr val="222222"/>
                </a:solidFill>
                <a:latin typeface="Calibri"/>
              </a:rPr>
              <a:t>  Edge Service Caching With Delayed Hits (Deka &amp; Sukapuram, IEEE TCC 2025)  and of the</a:t>
            </a:r>
          </a:p>
          <a:p>
            <a:pPr algn="l">
              <a:spcAft>
                <a:spcPts val="1600"/>
              </a:spcAft>
            </a:pPr>
            <a:r>
              <a:rPr sz="1500" b="0" i="0">
                <a:solidFill>
                  <a:srgbClr val="222222"/>
                </a:solidFill>
                <a:latin typeface="Calibri"/>
              </a:rPr>
              <a:t>  Randomized DRL with Multi-Resource (CPU, RAM, Disk) Capacity proposal</a:t>
            </a:r>
          </a:p>
          <a:p>
            <a:pPr algn="l">
              <a:spcAft>
                <a:spcPts val="600"/>
              </a:spcAft>
            </a:pPr>
            <a:r>
              <a:rPr sz="1300" b="0" i="1">
                <a:solidFill>
                  <a:srgbClr val="595959"/>
                </a:solidFill>
                <a:latin typeface="Calibri"/>
              </a:rPr>
              <a:t>Synthetic Zipf/Poisson traffic + the paper's adversarial Large Sequence; the offline optimum is an exact MILP (HiGHS).</a:t>
            </a:r>
          </a:p>
          <a:p>
            <a:pPr algn="l">
              <a:spcAft>
                <a:spcPts val="600"/>
              </a:spcAft>
            </a:pPr>
            <a:r>
              <a:rPr sz="1300" b="0" i="1">
                <a:solidFill>
                  <a:srgbClr val="595959"/>
                </a:solidFill>
                <a:latin typeface="Calibri"/>
              </a:rPr>
              <a:t>All numbers are read from results/*.json - nothing is hand-written.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The question</a:t>
            </a:r>
          </a:p>
          <a:p>
            <a:pPr algn="l">
              <a:spcAft>
                <a:spcPts val="600"/>
              </a:spcAft>
            </a:pPr>
            <a:r>
              <a:rPr sz="1400" b="0" i="1">
                <a:solidFill>
                  <a:srgbClr val="595959"/>
                </a:solidFill>
                <a:latin typeface="Calibri"/>
              </a:rPr>
              <a:t>and the short answer</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2</a:t>
            </a:r>
          </a:p>
        </p:txBody>
      </p:sp>
      <p:sp>
        <p:nvSpPr>
          <p:cNvPr id="5" name="TextBox 4"/>
          <p:cNvSpPr txBox="1"/>
          <p:nvPr/>
        </p:nvSpPr>
        <p:spPr>
          <a:xfrm>
            <a:off x="640080" y="1463040"/>
            <a:ext cx="10972800" cy="2194560"/>
          </a:xfrm>
          <a:prstGeom prst="rect">
            <a:avLst/>
          </a:prstGeom>
          <a:noFill/>
        </p:spPr>
        <p:txBody>
          <a:bodyPr wrap="square">
            <a:spAutoFit/>
          </a:bodyPr>
          <a:lstStyle/>
          <a:p>
            <a:pPr algn="l">
              <a:spcAft>
                <a:spcPts val="1200"/>
              </a:spcAft>
            </a:pPr>
            <a:r>
              <a:rPr sz="1900" b="0" i="0">
                <a:solidFill>
                  <a:srgbClr val="222222"/>
                </a:solidFill>
                <a:latin typeface="Calibri"/>
              </a:rPr>
              <a:t>•  How does each algorithm decide what to keep?</a:t>
            </a:r>
          </a:p>
          <a:p>
            <a:pPr algn="l">
              <a:spcAft>
                <a:spcPts val="1200"/>
              </a:spcAft>
            </a:pPr>
            <a:r>
              <a:rPr sz="1900" b="0" i="0">
                <a:solidFill>
                  <a:srgbClr val="222222"/>
                </a:solidFill>
                <a:latin typeface="Calibri"/>
              </a:rPr>
              <a:t>•  Does the randomized algorithm IMPROVE the deterministic one, or does it only EQUALIZE it?</a:t>
            </a:r>
          </a:p>
          <a:p>
            <a:pPr algn="l">
              <a:spcAft>
                <a:spcPts val="1200"/>
              </a:spcAft>
            </a:pPr>
            <a:r>
              <a:rPr sz="1900" b="0" i="0">
                <a:solidFill>
                  <a:srgbClr val="222222"/>
                </a:solidFill>
                <a:latin typeface="Calibri"/>
              </a:rPr>
              <a:t>•  Where does it LOSE?</a:t>
            </a:r>
          </a:p>
          <a:p>
            <a:pPr algn="l">
              <a:spcAft>
                <a:spcPts val="1800"/>
              </a:spcAft>
            </a:pPr>
            <a:r>
              <a:rPr sz="1900" b="0" i="0">
                <a:solidFill>
                  <a:srgbClr val="222222"/>
                </a:solidFill>
                <a:latin typeface="Calibri"/>
              </a:rPr>
              <a:t>•  How are the metrics (ratio, cost, utilization, regret, running time) actually calculated?</a:t>
            </a:r>
          </a:p>
        </p:txBody>
      </p:sp>
      <p:sp>
        <p:nvSpPr>
          <p:cNvPr id="6" name="Rectangle 5"/>
          <p:cNvSpPr/>
          <p:nvPr/>
        </p:nvSpPr>
        <p:spPr>
          <a:xfrm>
            <a:off x="731520" y="3977639"/>
            <a:ext cx="10698480" cy="1417320"/>
          </a:xfrm>
          <a:prstGeom prst="rect">
            <a:avLst/>
          </a:prstGeom>
          <a:solidFill>
            <a:srgbClr val="EEF2F8"/>
          </a:solidFill>
          <a:ln w="15875">
            <a:solidFill>
              <a:srgbClr val="1F3B7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82296"/>
          <a:lstStyle/>
          <a:p>
            <a:pPr algn="l">
              <a:spcAft>
                <a:spcPts val="300"/>
              </a:spcAft>
            </a:pPr>
            <a:r>
              <a:rPr sz="1500" b="1" i="0">
                <a:solidFill>
                  <a:srgbClr val="1F3B73"/>
                </a:solidFill>
                <a:latin typeface="Calibri"/>
              </a:rPr>
              <a:t>Short answer:</a:t>
            </a:r>
          </a:p>
          <a:p>
            <a:pPr algn="l">
              <a:spcAft>
                <a:spcPts val="600"/>
              </a:spcAft>
            </a:pPr>
            <a:r>
              <a:rPr sz="1400" b="0" i="0">
                <a:solidFill>
                  <a:srgbClr val="222222"/>
                </a:solidFill>
                <a:latin typeface="Calibri"/>
              </a:rPr>
              <a:t>it strictly improves the competitive ratio on the adversarial family the paper analyses (gamma = 2k -&gt; ~3, flat in k), it EQUALIZES the deterministic algorithm on ordinary traffic (1.443 vs 1.430) while spending 3x less download cost, it loses on short traces (1.279 vs 1.145), on CPU time (25-70x more per request) and on the literal form of goal G3.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The common setting</a:t>
            </a:r>
          </a:p>
          <a:p>
            <a:pPr algn="l">
              <a:spcAft>
                <a:spcPts val="600"/>
              </a:spcAft>
            </a:pPr>
            <a:r>
              <a:rPr sz="1400" b="0" i="1">
                <a:solidFill>
                  <a:srgbClr val="595959"/>
                </a:solidFill>
                <a:latin typeface="Calibri"/>
              </a:rPr>
              <a:t>the environment both algorithms run in</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3</a:t>
            </a:r>
          </a:p>
        </p:txBody>
      </p:sp>
      <p:sp>
        <p:nvSpPr>
          <p:cNvPr id="5" name="TextBox 4"/>
          <p:cNvSpPr txBox="1"/>
          <p:nvPr/>
        </p:nvSpPr>
        <p:spPr>
          <a:xfrm>
            <a:off x="640080" y="1325880"/>
            <a:ext cx="10972800" cy="1005840"/>
          </a:xfrm>
          <a:prstGeom prst="rect">
            <a:avLst/>
          </a:prstGeom>
          <a:noFill/>
        </p:spPr>
        <p:txBody>
          <a:bodyPr wrap="square">
            <a:spAutoFit/>
          </a:bodyPr>
          <a:lstStyle/>
          <a:p>
            <a:pPr algn="l">
              <a:spcAft>
                <a:spcPts val="900"/>
              </a:spcAft>
            </a:pPr>
            <a:r>
              <a:rPr sz="1700" b="0" i="0">
                <a:solidFill>
                  <a:srgbClr val="222222"/>
                </a:solidFill>
                <a:latin typeface="Calibri"/>
              </a:rPr>
              <a:t>•  An edge node caches N services; a service has a forwarding latency l, a download time M and a demand vector (CPU, RAM, disk).</a:t>
            </a:r>
          </a:p>
          <a:p>
            <a:pPr algn="l">
              <a:spcAft>
                <a:spcPts val="900"/>
              </a:spcAft>
            </a:pPr>
            <a:r>
              <a:rPr sz="1700" b="0" i="0">
                <a:solidFill>
                  <a:srgbClr val="222222"/>
                </a:solidFill>
                <a:latin typeface="Calibri"/>
              </a:rPr>
              <a:t>•  Latency and cost are kept separate: latency = what the user waits, cost = the download time the operator pays.</a:t>
            </a:r>
          </a:p>
        </p:txBody>
      </p:sp>
      <p:graphicFrame>
        <p:nvGraphicFramePr>
          <p:cNvPr id="6" name="Table 5"/>
          <p:cNvGraphicFramePr>
            <a:graphicFrameLocks noGrp="1"/>
          </p:cNvGraphicFramePr>
          <p:nvPr/>
        </p:nvGraphicFramePr>
        <p:xfrm>
          <a:off x="731520" y="2514600"/>
          <a:ext cx="10698480" cy="1737360"/>
        </p:xfrm>
        <a:graphic>
          <a:graphicData uri="http://schemas.openxmlformats.org/drawingml/2006/table">
            <a:tbl>
              <a:tblPr firstRow="1" bandRow="1">
                <a:tableStyleId>{5C22544A-7EE6-4342-B048-85BDC9FD1C3A}</a:tableStyleId>
              </a:tblPr>
              <a:tblGrid>
                <a:gridCol w="1961388"/>
                <a:gridCol w="4814316"/>
                <a:gridCol w="1961388"/>
                <a:gridCol w="1961388"/>
              </a:tblGrid>
              <a:tr h="434340">
                <a:tc>
                  <a:txBody>
                    <a:bodyPr wrap="square"/>
                    <a:lstStyle/>
                    <a:p>
                      <a:pPr algn="l">
                        <a:spcAft>
                          <a:spcPts val="0"/>
                        </a:spcAft>
                      </a:pPr>
                      <a:r>
                        <a:rPr sz="1300" b="1" i="0">
                          <a:solidFill>
                            <a:srgbClr val="FFFFFF"/>
                          </a:solidFill>
                          <a:latin typeface="Calibri"/>
                        </a:rPr>
                        <a:t>event</a:t>
                      </a:r>
                    </a:p>
                  </a:txBody>
                  <a:tcPr marL="54864" marR="54864" marT="27432" marB="27432" anchor="ctr">
                    <a:solidFill>
                      <a:srgbClr val="1F3B73"/>
                    </a:solidFill>
                  </a:tcPr>
                </a:tc>
                <a:tc>
                  <a:txBody>
                    <a:bodyPr wrap="square"/>
                    <a:lstStyle/>
                    <a:p>
                      <a:pPr algn="l">
                        <a:spcAft>
                          <a:spcPts val="0"/>
                        </a:spcAft>
                      </a:pPr>
                      <a:r>
                        <a:rPr sz="1300" b="1" i="0">
                          <a:solidFill>
                            <a:srgbClr val="FFFFFF"/>
                          </a:solidFill>
                          <a:latin typeface="Calibri"/>
                        </a:rPr>
                        <a:t>condition</a:t>
                      </a:r>
                    </a:p>
                  </a:txBody>
                  <a:tcPr marL="54864" marR="54864" marT="27432" marB="27432" anchor="ctr">
                    <a:solidFill>
                      <a:srgbClr val="1F3B73"/>
                    </a:solidFill>
                  </a:tcPr>
                </a:tc>
                <a:tc>
                  <a:txBody>
                    <a:bodyPr wrap="square"/>
                    <a:lstStyle/>
                    <a:p>
                      <a:pPr algn="l">
                        <a:spcAft>
                          <a:spcPts val="0"/>
                        </a:spcAft>
                      </a:pPr>
                      <a:r>
                        <a:rPr sz="1300" b="1" i="0">
                          <a:solidFill>
                            <a:srgbClr val="FFFFFF"/>
                          </a:solidFill>
                          <a:latin typeface="Calibri"/>
                        </a:rPr>
                        <a:t>latency</a:t>
                      </a:r>
                    </a:p>
                  </a:txBody>
                  <a:tcPr marL="54864" marR="54864" marT="27432" marB="27432" anchor="ctr">
                    <a:solidFill>
                      <a:srgbClr val="1F3B73"/>
                    </a:solidFill>
                  </a:tcPr>
                </a:tc>
                <a:tc>
                  <a:txBody>
                    <a:bodyPr wrap="square"/>
                    <a:lstStyle/>
                    <a:p>
                      <a:pPr algn="l">
                        <a:spcAft>
                          <a:spcPts val="0"/>
                        </a:spcAft>
                      </a:pPr>
                      <a:r>
                        <a:rPr sz="1300" b="1" i="0">
                          <a:solidFill>
                            <a:srgbClr val="FFFFFF"/>
                          </a:solidFill>
                          <a:latin typeface="Calibri"/>
                        </a:rPr>
                        <a:t>cost</a:t>
                      </a:r>
                    </a:p>
                  </a:txBody>
                  <a:tcPr marL="54864" marR="54864" marT="27432" marB="27432" anchor="ctr">
                    <a:solidFill>
                      <a:srgbClr val="1F3B73"/>
                    </a:solidFill>
                  </a:tcPr>
                </a:tc>
              </a:tr>
              <a:tr h="434340">
                <a:tc>
                  <a:txBody>
                    <a:bodyPr wrap="square"/>
                    <a:lstStyle/>
                    <a:p>
                      <a:pPr algn="l">
                        <a:spcAft>
                          <a:spcPts val="0"/>
                        </a:spcAft>
                      </a:pPr>
                      <a:r>
                        <a:rPr sz="1300" b="0" i="0">
                          <a:solidFill>
                            <a:srgbClr val="222222"/>
                          </a:solidFill>
                          <a:latin typeface="Calibri"/>
                        </a:rPr>
                        <a:t>Hit</a:t>
                      </a:r>
                    </a:p>
                  </a:txBody>
                  <a:tcPr marL="54864" marR="54864" marT="27432" marB="27432" anchor="ctr">
                    <a:solidFill>
                      <a:srgbClr val="FFFFFF"/>
                    </a:solidFill>
                  </a:tcPr>
                </a:tc>
                <a:tc>
                  <a:txBody>
                    <a:bodyPr wrap="square"/>
                    <a:lstStyle/>
                    <a:p>
                      <a:pPr algn="l">
                        <a:spcAft>
                          <a:spcPts val="0"/>
                        </a:spcAft>
                      </a:pPr>
                      <a:r>
                        <a:rPr sz="1300" b="0" i="0">
                          <a:solidFill>
                            <a:srgbClr val="222222"/>
                          </a:solidFill>
                          <a:latin typeface="Calibri"/>
                        </a:rPr>
                        <a:t>the service is cached</a:t>
                      </a:r>
                    </a:p>
                  </a:txBody>
                  <a:tcPr marL="54864" marR="54864" marT="27432" marB="27432" anchor="ctr">
                    <a:solidFill>
                      <a:srgbClr val="FFFFFF"/>
                    </a:solidFill>
                  </a:tcPr>
                </a:tc>
                <a:tc>
                  <a:txBody>
                    <a:bodyPr wrap="square"/>
                    <a:lstStyle/>
                    <a:p>
                      <a:pPr algn="l">
                        <a:spcAft>
                          <a:spcPts val="0"/>
                        </a:spcAft>
                      </a:pPr>
                      <a:r>
                        <a:rPr sz="1300" b="0" i="0">
                          <a:solidFill>
                            <a:srgbClr val="222222"/>
                          </a:solidFill>
                          <a:latin typeface="Calibri"/>
                        </a:rPr>
                        <a:t>0</a:t>
                      </a:r>
                    </a:p>
                  </a:txBody>
                  <a:tcPr marL="54864" marR="54864" marT="27432" marB="27432" anchor="ctr">
                    <a:solidFill>
                      <a:srgbClr val="FFFFFF"/>
                    </a:solidFill>
                  </a:tcPr>
                </a:tc>
                <a:tc>
                  <a:txBody>
                    <a:bodyPr wrap="square"/>
                    <a:lstStyle/>
                    <a:p>
                      <a:pPr algn="l">
                        <a:spcAft>
                          <a:spcPts val="0"/>
                        </a:spcAft>
                      </a:pPr>
                      <a:r>
                        <a:rPr sz="1300" b="0" i="0">
                          <a:solidFill>
                            <a:srgbClr val="222222"/>
                          </a:solidFill>
                          <a:latin typeface="Calibri"/>
                        </a:rPr>
                        <a:t>-</a:t>
                      </a:r>
                    </a:p>
                  </a:txBody>
                  <a:tcPr marL="54864" marR="54864" marT="27432" marB="27432" anchor="ctr">
                    <a:solidFill>
                      <a:srgbClr val="FFFFFF"/>
                    </a:solidFill>
                  </a:tcPr>
                </a:tc>
              </a:tr>
              <a:tr h="434340">
                <a:tc>
                  <a:txBody>
                    <a:bodyPr wrap="square"/>
                    <a:lstStyle/>
                    <a:p>
                      <a:pPr algn="l">
                        <a:spcAft>
                          <a:spcPts val="0"/>
                        </a:spcAft>
                      </a:pPr>
                      <a:r>
                        <a:rPr sz="1300" b="0" i="0">
                          <a:solidFill>
                            <a:srgbClr val="222222"/>
                          </a:solidFill>
                          <a:latin typeface="Calibri"/>
                        </a:rPr>
                        <a:t>Delayed hit</a:t>
                      </a:r>
                    </a:p>
                  </a:txBody>
                  <a:tcPr marL="54864" marR="54864" marT="27432" marB="27432" anchor="ctr">
                    <a:solidFill>
                      <a:srgbClr val="EEF2F8"/>
                    </a:solidFill>
                  </a:tcPr>
                </a:tc>
                <a:tc>
                  <a:txBody>
                    <a:bodyPr wrap="square"/>
                    <a:lstStyle/>
                    <a:p>
                      <a:pPr algn="l">
                        <a:spcAft>
                          <a:spcPts val="0"/>
                        </a:spcAft>
                      </a:pPr>
                      <a:r>
                        <a:rPr sz="1300" b="0" i="0">
                          <a:solidFill>
                            <a:srgbClr val="222222"/>
                          </a:solidFill>
                          <a:latin typeface="Calibri"/>
                        </a:rPr>
                        <a:t>a download is in flight and the remaining time &lt;= l  (the request is buffered)</a:t>
                      </a:r>
                    </a:p>
                  </a:txBody>
                  <a:tcPr marL="54864" marR="54864" marT="27432" marB="27432" anchor="ctr">
                    <a:solidFill>
                      <a:srgbClr val="EEF2F8"/>
                    </a:solidFill>
                  </a:tcPr>
                </a:tc>
                <a:tc>
                  <a:txBody>
                    <a:bodyPr wrap="square"/>
                    <a:lstStyle/>
                    <a:p>
                      <a:pPr algn="l">
                        <a:spcAft>
                          <a:spcPts val="0"/>
                        </a:spcAft>
                      </a:pPr>
                      <a:r>
                        <a:rPr sz="1300" b="0" i="0">
                          <a:solidFill>
                            <a:srgbClr val="222222"/>
                          </a:solidFill>
                          <a:latin typeface="Calibri"/>
                        </a:rPr>
                        <a:t>min(l, remaining)</a:t>
                      </a:r>
                    </a:p>
                  </a:txBody>
                  <a:tcPr marL="54864" marR="54864" marT="27432" marB="27432" anchor="ctr">
                    <a:solidFill>
                      <a:srgbClr val="EEF2F8"/>
                    </a:solidFill>
                  </a:tcPr>
                </a:tc>
                <a:tc>
                  <a:txBody>
                    <a:bodyPr wrap="square"/>
                    <a:lstStyle/>
                    <a:p>
                      <a:pPr algn="l">
                        <a:spcAft>
                          <a:spcPts val="0"/>
                        </a:spcAft>
                      </a:pPr>
                      <a:r>
                        <a:rPr sz="1300" b="0" i="0">
                          <a:solidFill>
                            <a:srgbClr val="222222"/>
                          </a:solidFill>
                          <a:latin typeface="Calibri"/>
                        </a:rPr>
                        <a:t>the download already paid</a:t>
                      </a:r>
                    </a:p>
                  </a:txBody>
                  <a:tcPr marL="54864" marR="54864" marT="27432" marB="27432" anchor="ctr">
                    <a:solidFill>
                      <a:srgbClr val="EEF2F8"/>
                    </a:solidFill>
                  </a:tcPr>
                </a:tc>
              </a:tr>
              <a:tr h="434340">
                <a:tc>
                  <a:txBody>
                    <a:bodyPr wrap="square"/>
                    <a:lstStyle/>
                    <a:p>
                      <a:pPr algn="l">
                        <a:spcAft>
                          <a:spcPts val="0"/>
                        </a:spcAft>
                      </a:pPr>
                      <a:r>
                        <a:rPr sz="1300" b="0" i="0">
                          <a:solidFill>
                            <a:srgbClr val="222222"/>
                          </a:solidFill>
                          <a:latin typeface="Calibri"/>
                        </a:rPr>
                        <a:t>Request forwarding</a:t>
                      </a:r>
                    </a:p>
                  </a:txBody>
                  <a:tcPr marL="54864" marR="54864" marT="27432" marB="27432" anchor="ctr">
                    <a:solidFill>
                      <a:srgbClr val="FFFFFF"/>
                    </a:solidFill>
                  </a:tcPr>
                </a:tc>
                <a:tc>
                  <a:txBody>
                    <a:bodyPr wrap="square"/>
                    <a:lstStyle/>
                    <a:p>
                      <a:pPr algn="l">
                        <a:spcAft>
                          <a:spcPts val="0"/>
                        </a:spcAft>
                      </a:pPr>
                      <a:r>
                        <a:rPr sz="1300" b="0" i="0">
                          <a:solidFill>
                            <a:srgbClr val="222222"/>
                          </a:solidFill>
                          <a:latin typeface="Calibri"/>
                        </a:rPr>
                        <a:t>not cached, no download in flight (or the remaining time &gt; l)</a:t>
                      </a:r>
                    </a:p>
                  </a:txBody>
                  <a:tcPr marL="54864" marR="54864" marT="27432" marB="27432" anchor="ctr">
                    <a:solidFill>
                      <a:srgbClr val="FFFFFF"/>
                    </a:solidFill>
                  </a:tcPr>
                </a:tc>
                <a:tc>
                  <a:txBody>
                    <a:bodyPr wrap="square"/>
                    <a:lstStyle/>
                    <a:p>
                      <a:pPr algn="l">
                        <a:spcAft>
                          <a:spcPts val="0"/>
                        </a:spcAft>
                      </a:pPr>
                      <a:r>
                        <a:rPr sz="1300" b="0" i="0">
                          <a:solidFill>
                            <a:srgbClr val="222222"/>
                          </a:solidFill>
                          <a:latin typeface="Calibri"/>
                        </a:rPr>
                        <a:t>l</a:t>
                      </a:r>
                    </a:p>
                  </a:txBody>
                  <a:tcPr marL="54864" marR="54864" marT="27432" marB="27432" anchor="ctr">
                    <a:solidFill>
                      <a:srgbClr val="FFFFFF"/>
                    </a:solidFill>
                  </a:tcPr>
                </a:tc>
                <a:tc>
                  <a:txBody>
                    <a:bodyPr wrap="square"/>
                    <a:lstStyle/>
                    <a:p>
                      <a:pPr algn="l">
                        <a:spcAft>
                          <a:spcPts val="0"/>
                        </a:spcAft>
                      </a:pPr>
                      <a:r>
                        <a:rPr sz="1300" b="0" i="0">
                          <a:solidFill>
                            <a:srgbClr val="222222"/>
                          </a:solidFill>
                          <a:latin typeface="Calibri"/>
                        </a:rPr>
                        <a:t>-</a:t>
                      </a:r>
                    </a:p>
                  </a:txBody>
                  <a:tcPr marL="54864" marR="54864" marT="27432" marB="27432" anchor="ctr">
                    <a:solidFill>
                      <a:srgbClr val="FFFFFF"/>
                    </a:solidFill>
                  </a:tcPr>
                </a:tc>
              </a:tr>
            </a:tbl>
          </a:graphicData>
        </a:graphic>
      </p:graphicFrame>
      <p:sp>
        <p:nvSpPr>
          <p:cNvPr id="7" name="Rectangle 6"/>
          <p:cNvSpPr/>
          <p:nvPr/>
        </p:nvSpPr>
        <p:spPr>
          <a:xfrm>
            <a:off x="731520" y="4572000"/>
            <a:ext cx="10698480" cy="1097280"/>
          </a:xfrm>
          <a:prstGeom prst="rect">
            <a:avLst/>
          </a:prstGeom>
          <a:solidFill>
            <a:srgbClr val="EEF2F8"/>
          </a:solidFill>
          <a:ln w="15875">
            <a:solidFill>
              <a:srgbClr val="1F3B7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82296"/>
          <a:lstStyle/>
          <a:p>
            <a:pPr algn="l">
              <a:spcAft>
                <a:spcPts val="300"/>
              </a:spcAft>
            </a:pPr>
            <a:r>
              <a:rPr sz="1400" b="1" i="0">
                <a:solidFill>
                  <a:srgbClr val="1F3B73"/>
                </a:solidFill>
                <a:latin typeface="Calibri"/>
              </a:rPr>
              <a:t>Why it matters:</a:t>
            </a:r>
          </a:p>
          <a:p>
            <a:pPr algn="l">
              <a:spcAft>
                <a:spcPts val="600"/>
              </a:spcAft>
            </a:pPr>
            <a:r>
              <a:rPr sz="1300" b="0" i="0">
                <a:solidFill>
                  <a:srgbClr val="222222"/>
                </a:solidFill>
                <a:latin typeface="Calibri"/>
              </a:rPr>
              <a:t>every request is charged its latency, every started download its M; the two algorithms are measured with exactly the same engine, so every difference in the next slides is a difference in CACHE MANAGEMENT, not in the environment.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How Online-DRL works</a:t>
            </a:r>
          </a:p>
          <a:p>
            <a:pPr algn="l">
              <a:spcAft>
                <a:spcPts val="600"/>
              </a:spcAft>
            </a:pPr>
            <a:r>
              <a:rPr sz="1400" b="0" i="1">
                <a:solidFill>
                  <a:srgbClr val="595959"/>
                </a:solidFill>
                <a:latin typeface="Calibri"/>
              </a:rPr>
              <a:t>the paper: deterministic, per-service state</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4</a:t>
            </a:r>
          </a:p>
        </p:txBody>
      </p:sp>
      <p:sp>
        <p:nvSpPr>
          <p:cNvPr id="5" name="TextBox 4"/>
          <p:cNvSpPr txBox="1"/>
          <p:nvPr/>
        </p:nvSpPr>
        <p:spPr>
          <a:xfrm>
            <a:off x="640080" y="1325880"/>
            <a:ext cx="10972800" cy="3931920"/>
          </a:xfrm>
          <a:prstGeom prst="rect">
            <a:avLst/>
          </a:prstGeom>
          <a:noFill/>
        </p:spPr>
        <p:txBody>
          <a:bodyPr wrap="square">
            <a:spAutoFit/>
          </a:bodyPr>
          <a:lstStyle/>
          <a:p>
            <a:pPr algn="l">
              <a:spcAft>
                <a:spcPts val="1100"/>
              </a:spcAft>
            </a:pPr>
            <a:r>
              <a:rPr sz="1600" b="0" i="0">
                <a:solidFill>
                  <a:srgbClr val="222222"/>
                </a:solidFill>
                <a:latin typeface="Calibri"/>
              </a:rPr>
              <a:t>•  TRIGGER (Algorithm 1).  At the first request of a miss epoch a download starts iff T_i &gt;= theta*M_i  or  L_i &gt;= theta*M_i, where T_i = time since the epoch began and L_i = l * (number of requests of the service in the epoch).  theta = 1 in the paper, theta = 0 is LL-RC.</a:t>
            </a:r>
          </a:p>
          <a:p>
            <a:pPr algn="l">
              <a:spcAft>
                <a:spcPts val="1100"/>
              </a:spcAft>
            </a:pPr>
            <a:r>
              <a:rPr sz="1600" b="0" i="0">
                <a:solidFill>
                  <a:srgbClr val="222222"/>
                </a:solidFill>
                <a:latin typeface="Calibri"/>
              </a:rPr>
              <a:t>•  EVICTION (Algorithm 2, Landlord).  Every cached service carries a credit, initialised to M and reset on every hit.  When a new service does not fit, the credits are decreased proportionally; the services whose credit hits 0 become eligible and are evicted in increasing order of the resources they use beyond the unmet need.</a:t>
            </a:r>
          </a:p>
          <a:p>
            <a:pPr algn="l">
              <a:spcAft>
                <a:spcPts val="1100"/>
              </a:spcAft>
            </a:pPr>
            <a:r>
              <a:rPr sz="1600" b="0" i="0">
                <a:solidFill>
                  <a:srgbClr val="222222"/>
                </a:solidFill>
                <a:latin typeface="Calibri"/>
              </a:rPr>
              <a:t>•  ADMISSION.  A service enters only if it fits in ALL THREE resources and the cardinality C.</a:t>
            </a:r>
          </a:p>
          <a:p>
            <a:pPr algn="l">
              <a:spcAft>
                <a:spcPts val="0"/>
              </a:spcAft>
            </a:pPr>
            <a:r>
              <a:rPr sz="1600" b="0" i="0">
                <a:solidFill>
                  <a:srgbClr val="222222"/>
                </a:solidFill>
                <a:latin typeface="Calibri"/>
              </a:rPr>
              <a:t>•  Guarantee: competitive ratio  gamma in O(k(1 + 3 beta_up M_x)); the proof exhibits an adversarial family on which gamma = Theta(k).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How Randomized Online-DRL works</a:t>
            </a:r>
          </a:p>
          <a:p>
            <a:pPr algn="l">
              <a:spcAft>
                <a:spcPts val="600"/>
              </a:spcAft>
            </a:pPr>
            <a:r>
              <a:rPr sz="1400" b="0" i="1">
                <a:solidFill>
                  <a:srgbClr val="595959"/>
                </a:solidFill>
                <a:latin typeface="Calibri"/>
              </a:rPr>
              <a:t>the proposal: R1 + R2 + R3</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5</a:t>
            </a:r>
          </a:p>
        </p:txBody>
      </p:sp>
      <p:sp>
        <p:nvSpPr>
          <p:cNvPr id="5" name="TextBox 4"/>
          <p:cNvSpPr txBox="1"/>
          <p:nvPr/>
        </p:nvSpPr>
        <p:spPr>
          <a:xfrm>
            <a:off x="640080" y="1325880"/>
            <a:ext cx="10972800" cy="4206240"/>
          </a:xfrm>
          <a:prstGeom prst="rect">
            <a:avLst/>
          </a:prstGeom>
          <a:noFill/>
        </p:spPr>
        <p:txBody>
          <a:bodyPr wrap="square">
            <a:spAutoFit/>
          </a:bodyPr>
          <a:lstStyle/>
          <a:p>
            <a:pPr algn="l">
              <a:spcAft>
                <a:spcPts val="1000"/>
              </a:spcAft>
            </a:pPr>
            <a:r>
              <a:rPr sz="1600" b="0" i="0">
                <a:solidFill>
                  <a:srgbClr val="222222"/>
                </a:solidFill>
                <a:latin typeface="Calibri"/>
              </a:rPr>
              <a:t>•  R1 - a FRACTIONAL state + projected OGD.  Instead of a credit per service the algorithm keeps p in D_vec = {p in [0,1]^N : sum p &lt;= C, sum a_n,r p_n &lt;= 1 for every r}.  Each request takes one gradient step on the requested service and projects back onto D_vec with a dual-ascent projection (eqs. 22-25); eta = sqrt(N)/(l_max sqrt(T)).</a:t>
            </a:r>
          </a:p>
          <a:p>
            <a:pPr algn="l">
              <a:spcAft>
                <a:spcPts val="1000"/>
              </a:spcAft>
            </a:pPr>
            <a:r>
              <a:rPr sz="1600" b="0" i="0">
                <a:solidFill>
                  <a:srgbClr val="222222"/>
                </a:solidFill>
                <a:latin typeface="Calibri"/>
              </a:rPr>
              <a:t>•  R2 - RANDOMIZED ROUNDING with repair.  K persistent uniform vectors give the paths s_k = 1[U_k &lt; p], so E[s] = p and E|ds| = |dp|.  A path that violates the constraints is repaired by evicting services.  The real cache = (downloaded) AND (sampled on): a service that was sampled but never downloaded is NOT a hit.</a:t>
            </a:r>
          </a:p>
          <a:p>
            <a:pPr algn="l">
              <a:spcAft>
                <a:spcPts val="1000"/>
              </a:spcAft>
            </a:pPr>
            <a:r>
              <a:rPr sz="1600" b="0" i="0">
                <a:solidFill>
                  <a:srgbClr val="222222"/>
                </a:solidFill>
                <a:latin typeface="Calibri"/>
              </a:rPr>
              <a:t>•  R3 - a RANDOMIZED download threshold, drawn from f(theta) = e^(theta/M_n)/(M_n(e-1)) on [0, M_n]: the rent-or-buy ratio 2 becomes e/(e-1) = 1.582.</a:t>
            </a:r>
          </a:p>
          <a:p>
            <a:pPr algn="l">
              <a:spcAft>
                <a:spcPts val="0"/>
              </a:spcAft>
            </a:pPr>
            <a:r>
              <a:rPr sz="1600" b="0" i="0">
                <a:solidFill>
                  <a:srgbClr val="222222"/>
                </a:solidFill>
                <a:latin typeface="Calibri"/>
              </a:rPr>
              <a:t>•  BUDGET awareness.  The trigger probability is lowered to budget_left/(M_n * requests_left) so that the expected download cost stays below B_max (goal G2).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Side by side</a:t>
            </a:r>
          </a:p>
          <a:p>
            <a:pPr algn="l">
              <a:spcAft>
                <a:spcPts val="600"/>
              </a:spcAft>
            </a:pPr>
            <a:r>
              <a:rPr sz="1400" b="0" i="1">
                <a:solidFill>
                  <a:srgbClr val="595959"/>
                </a:solidFill>
                <a:latin typeface="Calibri"/>
              </a:rPr>
              <a:t>what actually differs</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6</a:t>
            </a:r>
          </a:p>
        </p:txBody>
      </p:sp>
      <p:graphicFrame>
        <p:nvGraphicFramePr>
          <p:cNvPr id="5" name="Table 4"/>
          <p:cNvGraphicFramePr>
            <a:graphicFrameLocks noGrp="1"/>
          </p:cNvGraphicFramePr>
          <p:nvPr/>
        </p:nvGraphicFramePr>
        <p:xfrm>
          <a:off x="640080" y="1371600"/>
          <a:ext cx="10881360" cy="4297680"/>
        </p:xfrm>
        <a:graphic>
          <a:graphicData uri="http://schemas.openxmlformats.org/drawingml/2006/table">
            <a:tbl>
              <a:tblPr firstRow="1" bandRow="1">
                <a:tableStyleId>{5C22544A-7EE6-4342-B048-85BDC9FD1C3A}</a:tableStyleId>
              </a:tblPr>
              <a:tblGrid>
                <a:gridCol w="2011680"/>
                <a:gridCol w="4206240"/>
                <a:gridCol w="4663440"/>
              </a:tblGrid>
              <a:tr h="537210">
                <a:tc>
                  <a:txBody>
                    <a:bodyPr wrap="square"/>
                    <a:lstStyle/>
                    <a:p>
                      <a:pPr algn="l">
                        <a:spcAft>
                          <a:spcPts val="0"/>
                        </a:spcAft>
                      </a:pPr>
                      <a:r>
                        <a:rPr sz="1250" b="1" i="0">
                          <a:solidFill>
                            <a:srgbClr val="FFFFFF"/>
                          </a:solidFill>
                          <a:latin typeface="Calibri"/>
                        </a:rPr>
                        <a:t>aspect</a:t>
                      </a:r>
                    </a:p>
                  </a:txBody>
                  <a:tcPr marL="54864" marR="54864" marT="27432" marB="27432" anchor="ctr">
                    <a:solidFill>
                      <a:srgbClr val="1F3B73"/>
                    </a:solidFill>
                  </a:tcPr>
                </a:tc>
                <a:tc>
                  <a:txBody>
                    <a:bodyPr wrap="square"/>
                    <a:lstStyle/>
                    <a:p>
                      <a:pPr algn="l">
                        <a:spcAft>
                          <a:spcPts val="0"/>
                        </a:spcAft>
                      </a:pPr>
                      <a:r>
                        <a:rPr sz="1250" b="1" i="0">
                          <a:solidFill>
                            <a:srgbClr val="FFFFFF"/>
                          </a:solidFill>
                          <a:latin typeface="Calibri"/>
                        </a:rPr>
                        <a:t>Online-DRL</a:t>
                      </a:r>
                    </a:p>
                  </a:txBody>
                  <a:tcPr marL="54864" marR="54864" marT="27432" marB="27432" anchor="ctr">
                    <a:solidFill>
                      <a:srgbClr val="1F3B73"/>
                    </a:solidFill>
                  </a:tcPr>
                </a:tc>
                <a:tc>
                  <a:txBody>
                    <a:bodyPr wrap="square"/>
                    <a:lstStyle/>
                    <a:p>
                      <a:pPr algn="l">
                        <a:spcAft>
                          <a:spcPts val="0"/>
                        </a:spcAft>
                      </a:pPr>
                      <a:r>
                        <a:rPr sz="1250" b="1" i="0">
                          <a:solidFill>
                            <a:srgbClr val="FFFFFF"/>
                          </a:solidFill>
                          <a:latin typeface="Calibri"/>
                        </a:rPr>
                        <a:t>Randomized Online-DRL</a:t>
                      </a:r>
                    </a:p>
                  </a:txBody>
                  <a:tcPr marL="54864" marR="54864" marT="27432" marB="27432" anchor="ctr">
                    <a:solidFill>
                      <a:srgbClr val="1F3B73"/>
                    </a:solidFill>
                  </a:tcPr>
                </a:tc>
              </a:tr>
              <a:tr h="537210">
                <a:tc>
                  <a:txBody>
                    <a:bodyPr wrap="square"/>
                    <a:lstStyle/>
                    <a:p>
                      <a:pPr algn="l">
                        <a:spcAft>
                          <a:spcPts val="0"/>
                        </a:spcAft>
                      </a:pPr>
                      <a:r>
                        <a:rPr sz="1250" b="0" i="0">
                          <a:solidFill>
                            <a:srgbClr val="222222"/>
                          </a:solidFill>
                          <a:latin typeface="Calibri"/>
                        </a:rPr>
                        <a:t>state</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one credit per cached service</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fractional p in D_vec + K rounding paths</a:t>
                      </a:r>
                    </a:p>
                  </a:txBody>
                  <a:tcPr marL="54864" marR="54864" marT="27432" marB="27432" anchor="ctr">
                    <a:solidFill>
                      <a:srgbClr val="FFFFFF"/>
                    </a:solidFill>
                  </a:tcPr>
                </a:tc>
              </a:tr>
              <a:tr h="537210">
                <a:tc>
                  <a:txBody>
                    <a:bodyPr wrap="square"/>
                    <a:lstStyle/>
                    <a:p>
                      <a:pPr algn="l">
                        <a:spcAft>
                          <a:spcPts val="0"/>
                        </a:spcAft>
                      </a:pPr>
                      <a:r>
                        <a:rPr sz="1250" b="0" i="0">
                          <a:solidFill>
                            <a:srgbClr val="222222"/>
                          </a:solidFill>
                          <a:latin typeface="Calibri"/>
                        </a:rPr>
                        <a:t>download decision</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deterministic counters vs a fixed theta</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same counters, random threshold, budget-aware probability</a:t>
                      </a:r>
                    </a:p>
                  </a:txBody>
                  <a:tcPr marL="54864" marR="54864" marT="27432" marB="27432" anchor="ctr">
                    <a:solidFill>
                      <a:srgbClr val="EEF2F8"/>
                    </a:solidFill>
                  </a:tcPr>
                </a:tc>
              </a:tr>
              <a:tr h="537210">
                <a:tc>
                  <a:txBody>
                    <a:bodyPr wrap="square"/>
                    <a:lstStyle/>
                    <a:p>
                      <a:pPr algn="l">
                        <a:spcAft>
                          <a:spcPts val="0"/>
                        </a:spcAft>
                      </a:pPr>
                      <a:r>
                        <a:rPr sz="1250" b="0" i="0">
                          <a:solidFill>
                            <a:srgbClr val="222222"/>
                          </a:solidFill>
                          <a:latin typeface="Calibri"/>
                        </a:rPr>
                        <a:t>eviction</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Landlord: credit reaches 0, then a greedy resource-aware order</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the OGD state lowers p, the rounding switches the service off, violating paths are repaired</a:t>
                      </a:r>
                    </a:p>
                  </a:txBody>
                  <a:tcPr marL="54864" marR="54864" marT="27432" marB="27432" anchor="ctr">
                    <a:solidFill>
                      <a:srgbClr val="FFFFFF"/>
                    </a:solidFill>
                  </a:tcPr>
                </a:tc>
              </a:tr>
              <a:tr h="537210">
                <a:tc>
                  <a:txBody>
                    <a:bodyPr wrap="square"/>
                    <a:lstStyle/>
                    <a:p>
                      <a:pPr algn="l">
                        <a:spcAft>
                          <a:spcPts val="0"/>
                        </a:spcAft>
                      </a:pPr>
                      <a:r>
                        <a:rPr sz="1250" b="0" i="0">
                          <a:solidFill>
                            <a:srgbClr val="222222"/>
                          </a:solidFill>
                          <a:latin typeface="Calibri"/>
                        </a:rPr>
                        <a:t>entering the cache</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when the download completes</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when the download completes AND the serving path samples it on</a:t>
                      </a:r>
                    </a:p>
                  </a:txBody>
                  <a:tcPr marL="54864" marR="54864" marT="27432" marB="27432" anchor="ctr">
                    <a:solidFill>
                      <a:srgbClr val="EEF2F8"/>
                    </a:solidFill>
                  </a:tcPr>
                </a:tc>
              </a:tr>
              <a:tr h="537210">
                <a:tc>
                  <a:txBody>
                    <a:bodyPr wrap="square"/>
                    <a:lstStyle/>
                    <a:p>
                      <a:pPr algn="l">
                        <a:spcAft>
                          <a:spcPts val="0"/>
                        </a:spcAft>
                      </a:pPr>
                      <a:r>
                        <a:rPr sz="1250" b="0" i="0">
                          <a:solidFill>
                            <a:srgbClr val="222222"/>
                          </a:solidFill>
                          <a:latin typeface="Calibri"/>
                        </a:rPr>
                        <a:t>guarantee</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gamma in O(k(1+3 beta_up M_x))</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surrogate regret &lt;= sqrt(N) l_max sqrt(T); expected cost &lt;= B_max</a:t>
                      </a:r>
                    </a:p>
                  </a:txBody>
                  <a:tcPr marL="54864" marR="54864" marT="27432" marB="27432" anchor="ctr">
                    <a:solidFill>
                      <a:srgbClr val="FFFFFF"/>
                    </a:solidFill>
                  </a:tcPr>
                </a:tc>
              </a:tr>
              <a:tr h="537210">
                <a:tc>
                  <a:txBody>
                    <a:bodyPr wrap="square"/>
                    <a:lstStyle/>
                    <a:p>
                      <a:pPr algn="l">
                        <a:spcAft>
                          <a:spcPts val="0"/>
                        </a:spcAft>
                      </a:pPr>
                      <a:r>
                        <a:rPr sz="1250" b="0" i="0">
                          <a:solidFill>
                            <a:srgbClr val="222222"/>
                          </a:solidFill>
                          <a:latin typeface="Calibri"/>
                        </a:rPr>
                        <a:t>resource feasibility</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checked exactly at admission</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guaranteed by the repair step</a:t>
                      </a:r>
                    </a:p>
                  </a:txBody>
                  <a:tcPr marL="54864" marR="54864" marT="27432" marB="27432" anchor="ctr">
                    <a:solidFill>
                      <a:srgbClr val="EEF2F8"/>
                    </a:solidFill>
                  </a:tcPr>
                </a:tc>
              </a:tr>
              <a:tr h="537210">
                <a:tc>
                  <a:txBody>
                    <a:bodyPr wrap="square"/>
                    <a:lstStyle/>
                    <a:p>
                      <a:pPr algn="l">
                        <a:spcAft>
                          <a:spcPts val="0"/>
                        </a:spcAft>
                      </a:pPr>
                      <a:r>
                        <a:rPr sz="1250" b="0" i="0">
                          <a:solidFill>
                            <a:srgbClr val="222222"/>
                          </a:solidFill>
                          <a:latin typeface="Calibri"/>
                        </a:rPr>
                        <a:t>price</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no randomness, no learning</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25-70x more CPU per request; needs a warm-up</a:t>
                      </a:r>
                    </a:p>
                  </a:txBody>
                  <a:tcPr marL="54864" marR="54864"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How the metrics are calculated (1/2)</a:t>
            </a:r>
          </a:p>
          <a:p>
            <a:pPr algn="l">
              <a:spcAft>
                <a:spcPts val="600"/>
              </a:spcAft>
            </a:pPr>
            <a:r>
              <a:rPr sz="1400" b="0" i="1">
                <a:solidFill>
                  <a:srgbClr val="595959"/>
                </a:solidFill>
                <a:latin typeface="Calibri"/>
              </a:rPr>
              <a:t>the objective quantities</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7</a:t>
            </a:r>
          </a:p>
        </p:txBody>
      </p:sp>
      <p:graphicFrame>
        <p:nvGraphicFramePr>
          <p:cNvPr id="5" name="Table 4"/>
          <p:cNvGraphicFramePr>
            <a:graphicFrameLocks noGrp="1"/>
          </p:cNvGraphicFramePr>
          <p:nvPr/>
        </p:nvGraphicFramePr>
        <p:xfrm>
          <a:off x="640080" y="1371600"/>
          <a:ext cx="10881360" cy="4206240"/>
        </p:xfrm>
        <a:graphic>
          <a:graphicData uri="http://schemas.openxmlformats.org/drawingml/2006/table">
            <a:tbl>
              <a:tblPr firstRow="1" bandRow="1">
                <a:tableStyleId>{5C22544A-7EE6-4342-B048-85BDC9FD1C3A}</a:tableStyleId>
              </a:tblPr>
              <a:tblGrid>
                <a:gridCol w="2194560"/>
                <a:gridCol w="4389120"/>
                <a:gridCol w="4297680"/>
              </a:tblGrid>
              <a:tr h="600891">
                <a:tc>
                  <a:txBody>
                    <a:bodyPr wrap="square"/>
                    <a:lstStyle/>
                    <a:p>
                      <a:pPr algn="l">
                        <a:spcAft>
                          <a:spcPts val="0"/>
                        </a:spcAft>
                      </a:pPr>
                      <a:r>
                        <a:rPr sz="1200" b="1" i="0">
                          <a:solidFill>
                            <a:srgbClr val="FFFFFF"/>
                          </a:solidFill>
                          <a:latin typeface="Calibri"/>
                        </a:rPr>
                        <a:t>metric</a:t>
                      </a:r>
                    </a:p>
                  </a:txBody>
                  <a:tcPr marL="54864" marR="54864" marT="27432" marB="27432" anchor="ctr">
                    <a:solidFill>
                      <a:srgbClr val="1F3B73"/>
                    </a:solidFill>
                  </a:tcPr>
                </a:tc>
                <a:tc>
                  <a:txBody>
                    <a:bodyPr wrap="square"/>
                    <a:lstStyle/>
                    <a:p>
                      <a:pPr algn="l">
                        <a:spcAft>
                          <a:spcPts val="0"/>
                        </a:spcAft>
                      </a:pPr>
                      <a:r>
                        <a:rPr sz="1200" b="1" i="0">
                          <a:solidFill>
                            <a:srgbClr val="FFFFFF"/>
                          </a:solidFill>
                          <a:latin typeface="Calibri"/>
                        </a:rPr>
                        <a:t>formula</a:t>
                      </a:r>
                    </a:p>
                  </a:txBody>
                  <a:tcPr marL="54864" marR="54864" marT="27432" marB="27432" anchor="ctr">
                    <a:solidFill>
                      <a:srgbClr val="1F3B73"/>
                    </a:solidFill>
                  </a:tcPr>
                </a:tc>
                <a:tc>
                  <a:txBody>
                    <a:bodyPr wrap="square"/>
                    <a:lstStyle/>
                    <a:p>
                      <a:pPr algn="l">
                        <a:spcAft>
                          <a:spcPts val="0"/>
                        </a:spcAft>
                      </a:pPr>
                      <a:r>
                        <a:rPr sz="1200" b="1" i="0">
                          <a:solidFill>
                            <a:srgbClr val="FFFFFF"/>
                          </a:solidFill>
                          <a:latin typeface="Calibri"/>
                        </a:rPr>
                        <a:t>why it is the right one</a:t>
                      </a:r>
                    </a:p>
                  </a:txBody>
                  <a:tcPr marL="54864" marR="54864" marT="27432" marB="27432" anchor="ctr">
                    <a:solidFill>
                      <a:srgbClr val="1F3B73"/>
                    </a:solidFill>
                  </a:tcPr>
                </a:tc>
              </a:tr>
              <a:tr h="600891">
                <a:tc>
                  <a:txBody>
                    <a:bodyPr wrap="square"/>
                    <a:lstStyle/>
                    <a:p>
                      <a:pPr algn="l">
                        <a:spcAft>
                          <a:spcPts val="0"/>
                        </a:spcAft>
                      </a:pPr>
                      <a:r>
                        <a:rPr sz="1200" b="0" i="0">
                          <a:solidFill>
                            <a:srgbClr val="222222"/>
                          </a:solidFill>
                          <a:latin typeface="Calibri"/>
                        </a:rPr>
                        <a:t>latency</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sum_t lat_t, with lat_t = 0 (hit), min(l, remaining) (delayed hit) or l (forward)</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exactly the objective of the paper</a:t>
                      </a:r>
                    </a:p>
                  </a:txBody>
                  <a:tcPr marL="54864" marR="54864" marT="27432" marB="27432" anchor="ctr">
                    <a:solidFill>
                      <a:srgbClr val="FFFFFF"/>
                    </a:solidFill>
                  </a:tcPr>
                </a:tc>
              </a:tr>
              <a:tr h="600891">
                <a:tc>
                  <a:txBody>
                    <a:bodyPr wrap="square"/>
                    <a:lstStyle/>
                    <a:p>
                      <a:pPr algn="l">
                        <a:spcAft>
                          <a:spcPts val="0"/>
                        </a:spcAft>
                      </a:pPr>
                      <a:r>
                        <a:rPr sz="1200" b="0" i="0">
                          <a:solidFill>
                            <a:srgbClr val="222222"/>
                          </a:solidFill>
                          <a:latin typeface="Calibri"/>
                        </a:rPr>
                        <a:t>cost</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sum of M_n over the STARTED downloads</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the operator's cost; forwarding is charged through the latency, not the cost</a:t>
                      </a:r>
                    </a:p>
                  </a:txBody>
                  <a:tcPr marL="54864" marR="54864" marT="27432" marB="27432" anchor="ctr">
                    <a:solidFill>
                      <a:srgbClr val="EEF2F8"/>
                    </a:solidFill>
                  </a:tcPr>
                </a:tc>
              </a:tr>
              <a:tr h="600891">
                <a:tc>
                  <a:txBody>
                    <a:bodyPr wrap="square"/>
                    <a:lstStyle/>
                    <a:p>
                      <a:pPr algn="l">
                        <a:spcAft>
                          <a:spcPts val="0"/>
                        </a:spcAft>
                      </a:pPr>
                      <a:r>
                        <a:rPr sz="1200" b="0" i="0">
                          <a:solidFill>
                            <a:srgbClr val="222222"/>
                          </a:solidFill>
                          <a:latin typeface="Calibri"/>
                        </a:rPr>
                        <a:t>downloads</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number of started downloads</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the download budget is spent per download</a:t>
                      </a:r>
                    </a:p>
                  </a:txBody>
                  <a:tcPr marL="54864" marR="54864" marT="27432" marB="27432" anchor="ctr">
                    <a:solidFill>
                      <a:srgbClr val="FFFFFF"/>
                    </a:solidFill>
                  </a:tcPr>
                </a:tc>
              </a:tr>
              <a:tr h="600891">
                <a:tc>
                  <a:txBody>
                    <a:bodyPr wrap="square"/>
                    <a:lstStyle/>
                    <a:p>
                      <a:pPr algn="l">
                        <a:spcAft>
                          <a:spcPts val="0"/>
                        </a:spcAft>
                      </a:pPr>
                      <a:r>
                        <a:rPr sz="1200" b="0" i="0">
                          <a:solidFill>
                            <a:srgbClr val="222222"/>
                          </a:solidFill>
                          <a:latin typeface="Calibri"/>
                        </a:rPr>
                        <a:t>competitive ratio gamma</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ALG(I)/OPT(I); OPT = MILP optimum (HiGHS) or the paper's (k+2n)l on the Large Sequence</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the paper's definition; if the MILP hits its time limit the ratio is only a lower bound</a:t>
                      </a:r>
                    </a:p>
                  </a:txBody>
                  <a:tcPr marL="54864" marR="54864" marT="27432" marB="27432" anchor="ctr">
                    <a:solidFill>
                      <a:srgbClr val="EEF2F8"/>
                    </a:solidFill>
                  </a:tcPr>
                </a:tc>
              </a:tr>
              <a:tr h="600891">
                <a:tc>
                  <a:txBody>
                    <a:bodyPr wrap="square"/>
                    <a:lstStyle/>
                    <a:p>
                      <a:pPr algn="l">
                        <a:spcAft>
                          <a:spcPts val="0"/>
                        </a:spcAft>
                      </a:pPr>
                      <a:r>
                        <a:rPr sz="1200" b="0" i="0">
                          <a:solidFill>
                            <a:srgbClr val="222222"/>
                          </a:solidFill>
                          <a:latin typeface="Calibri"/>
                        </a:rPr>
                        <a:t>fit of gamma(k)</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least squares: linear / logarithmic / power law (log-log) with R^2</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shows empirically whether the linear behaviour disappears - it is not a proof</a:t>
                      </a:r>
                    </a:p>
                  </a:txBody>
                  <a:tcPr marL="54864" marR="54864" marT="27432" marB="27432" anchor="ctr">
                    <a:solidFill>
                      <a:srgbClr val="FFFFFF"/>
                    </a:solidFill>
                  </a:tcPr>
                </a:tc>
              </a:tr>
              <a:tr h="600894">
                <a:tc>
                  <a:txBody>
                    <a:bodyPr wrap="square"/>
                    <a:lstStyle/>
                    <a:p>
                      <a:pPr algn="l">
                        <a:spcAft>
                          <a:spcPts val="0"/>
                        </a:spcAft>
                      </a:pPr>
                      <a:r>
                        <a:rPr sz="1200" b="0" i="0">
                          <a:solidFill>
                            <a:srgbClr val="222222"/>
                          </a:solidFill>
                          <a:latin typeface="Calibri"/>
                        </a:rPr>
                        <a:t>beta_up, beta_down</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per service fwd_i/M_i, where fwd_i counts the requests forwarded WHILE a download of i was in flight</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the paper's beta is exactly that fraction; beta_up = max (with M_x), beta_down = mean (with M_min)</a:t>
                      </a:r>
                    </a:p>
                  </a:txBody>
                  <a:tcPr marL="54864" marR="54864" marT="27432" marB="27432" anchor="ctr">
                    <a:solidFill>
                      <a:srgbClr val="EEF2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How the metrics are calculated (2/2)</a:t>
            </a:r>
          </a:p>
          <a:p>
            <a:pPr algn="l">
              <a:spcAft>
                <a:spcPts val="600"/>
              </a:spcAft>
            </a:pPr>
            <a:r>
              <a:rPr sz="1400" b="0" i="1">
                <a:solidFill>
                  <a:srgbClr val="595959"/>
                </a:solidFill>
                <a:latin typeface="Calibri"/>
              </a:rPr>
              <a:t>the resource, regret and cost metrics</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8</a:t>
            </a:r>
          </a:p>
        </p:txBody>
      </p:sp>
      <p:graphicFrame>
        <p:nvGraphicFramePr>
          <p:cNvPr id="5" name="Table 4"/>
          <p:cNvGraphicFramePr>
            <a:graphicFrameLocks noGrp="1"/>
          </p:cNvGraphicFramePr>
          <p:nvPr/>
        </p:nvGraphicFramePr>
        <p:xfrm>
          <a:off x="640080" y="1371600"/>
          <a:ext cx="10881360" cy="4389120"/>
        </p:xfrm>
        <a:graphic>
          <a:graphicData uri="http://schemas.openxmlformats.org/drawingml/2006/table">
            <a:tbl>
              <a:tblPr firstRow="1" bandRow="1">
                <a:tableStyleId>{5C22544A-7EE6-4342-B048-85BDC9FD1C3A}</a:tableStyleId>
              </a:tblPr>
              <a:tblGrid>
                <a:gridCol w="2194560"/>
                <a:gridCol w="4389120"/>
                <a:gridCol w="4297680"/>
              </a:tblGrid>
              <a:tr h="548640">
                <a:tc>
                  <a:txBody>
                    <a:bodyPr wrap="square"/>
                    <a:lstStyle/>
                    <a:p>
                      <a:pPr algn="l">
                        <a:spcAft>
                          <a:spcPts val="0"/>
                        </a:spcAft>
                      </a:pPr>
                      <a:r>
                        <a:rPr sz="1200" b="1" i="0">
                          <a:solidFill>
                            <a:srgbClr val="FFFFFF"/>
                          </a:solidFill>
                          <a:latin typeface="Calibri"/>
                        </a:rPr>
                        <a:t>metric</a:t>
                      </a:r>
                    </a:p>
                  </a:txBody>
                  <a:tcPr marL="54864" marR="54864" marT="27432" marB="27432" anchor="ctr">
                    <a:solidFill>
                      <a:srgbClr val="1F3B73"/>
                    </a:solidFill>
                  </a:tcPr>
                </a:tc>
                <a:tc>
                  <a:txBody>
                    <a:bodyPr wrap="square"/>
                    <a:lstStyle/>
                    <a:p>
                      <a:pPr algn="l">
                        <a:spcAft>
                          <a:spcPts val="0"/>
                        </a:spcAft>
                      </a:pPr>
                      <a:r>
                        <a:rPr sz="1200" b="1" i="0">
                          <a:solidFill>
                            <a:srgbClr val="FFFFFF"/>
                          </a:solidFill>
                          <a:latin typeface="Calibri"/>
                        </a:rPr>
                        <a:t>formula</a:t>
                      </a:r>
                    </a:p>
                  </a:txBody>
                  <a:tcPr marL="54864" marR="54864" marT="27432" marB="27432" anchor="ctr">
                    <a:solidFill>
                      <a:srgbClr val="1F3B73"/>
                    </a:solidFill>
                  </a:tcPr>
                </a:tc>
                <a:tc>
                  <a:txBody>
                    <a:bodyPr wrap="square"/>
                    <a:lstStyle/>
                    <a:p>
                      <a:pPr algn="l">
                        <a:spcAft>
                          <a:spcPts val="0"/>
                        </a:spcAft>
                      </a:pPr>
                      <a:r>
                        <a:rPr sz="1200" b="1" i="0">
                          <a:solidFill>
                            <a:srgbClr val="FFFFFF"/>
                          </a:solidFill>
                          <a:latin typeface="Calibri"/>
                        </a:rPr>
                        <a:t>why it is the right one</a:t>
                      </a:r>
                    </a:p>
                  </a:txBody>
                  <a:tcPr marL="54864" marR="54864" marT="27432" marB="27432" anchor="ctr">
                    <a:solidFill>
                      <a:srgbClr val="1F3B73"/>
                    </a:solidFill>
                  </a:tcPr>
                </a:tc>
              </a:tr>
              <a:tr h="548640">
                <a:tc>
                  <a:txBody>
                    <a:bodyPr wrap="square"/>
                    <a:lstStyle/>
                    <a:p>
                      <a:pPr algn="l">
                        <a:spcAft>
                          <a:spcPts val="0"/>
                        </a:spcAft>
                      </a:pPr>
                      <a:r>
                        <a:rPr sz="1200" b="0" i="0">
                          <a:solidFill>
                            <a:srgbClr val="222222"/>
                          </a:solidFill>
                          <a:latin typeface="Calibri"/>
                        </a:rPr>
                        <a:t>U_r,t, U^max</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sum of a_n,r over the services cached at t</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the proposal's per-resource occupancy</a:t>
                      </a:r>
                    </a:p>
                  </a:txBody>
                  <a:tcPr marL="54864" marR="54864" marT="27432" marB="27432" anchor="ctr">
                    <a:solidFill>
                      <a:srgbClr val="FFFFFF"/>
                    </a:solidFill>
                  </a:tcPr>
                </a:tc>
              </a:tr>
              <a:tr h="548640">
                <a:tc>
                  <a:txBody>
                    <a:bodyPr wrap="square"/>
                    <a:lstStyle/>
                    <a:p>
                      <a:pPr algn="l">
                        <a:spcAft>
                          <a:spcPts val="0"/>
                        </a:spcAft>
                      </a:pPr>
                      <a:r>
                        <a:rPr sz="1200" b="0" i="0">
                          <a:solidFill>
                            <a:srgbClr val="222222"/>
                          </a:solidFill>
                          <a:latin typeface="Calibri"/>
                        </a:rPr>
                        <a:t>imbalance, stranded W</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U^max - min_r U_r  and  sum_r (U^max - U_r)</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proposal eqs. (30)-(33)</a:t>
                      </a:r>
                    </a:p>
                  </a:txBody>
                  <a:tcPr marL="54864" marR="54864" marT="27432" marB="27432" anchor="ctr">
                    <a:solidFill>
                      <a:srgbClr val="EEF2F8"/>
                    </a:solidFill>
                  </a:tcPr>
                </a:tc>
              </a:tr>
              <a:tr h="548640">
                <a:tc>
                  <a:txBody>
                    <a:bodyPr wrap="square"/>
                    <a:lstStyle/>
                    <a:p>
                      <a:pPr algn="l">
                        <a:spcAft>
                          <a:spcPts val="0"/>
                        </a:spcAft>
                      </a:pPr>
                      <a:r>
                        <a:rPr sz="1200" b="0" i="0">
                          <a:solidFill>
                            <a:srgbClr val="222222"/>
                          </a:solidFill>
                          <a:latin typeface="Calibri"/>
                        </a:rPr>
                        <a:t>violation rate</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fraction of steps with max_r U_r,t &gt; 1</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goal G1 is about the TRUE constraints, not the reduced ones</a:t>
                      </a:r>
                    </a:p>
                  </a:txBody>
                  <a:tcPr marL="54864" marR="54864" marT="27432" marB="27432" anchor="ctr">
                    <a:solidFill>
                      <a:srgbClr val="FFFFFF"/>
                    </a:solidFill>
                  </a:tcPr>
                </a:tc>
              </a:tr>
              <a:tr h="548640">
                <a:tc>
                  <a:txBody>
                    <a:bodyPr wrap="square"/>
                    <a:lstStyle/>
                    <a:p>
                      <a:pPr algn="l">
                        <a:spcAft>
                          <a:spcPts val="0"/>
                        </a:spcAft>
                      </a:pPr>
                      <a:r>
                        <a:rPr sz="1200" b="0" i="0">
                          <a:solidFill>
                            <a:srgbClr val="222222"/>
                          </a:solidFill>
                          <a:latin typeface="Calibri"/>
                        </a:rPr>
                        <a:t>Lambda_phi (eq. 18)</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max_n phi(a_n) / max_r a_n,r</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how much a slot reduction over-charges a service</a:t>
                      </a:r>
                    </a:p>
                  </a:txBody>
                  <a:tcPr marL="54864" marR="54864" marT="27432" marB="27432" anchor="ctr">
                    <a:solidFill>
                      <a:srgbClr val="EEF2F8"/>
                    </a:solidFill>
                  </a:tcPr>
                </a:tc>
              </a:tr>
              <a:tr h="548640">
                <a:tc>
                  <a:txBody>
                    <a:bodyPr wrap="square"/>
                    <a:lstStyle/>
                    <a:p>
                      <a:pPr algn="l">
                        <a:spcAft>
                          <a:spcPts val="0"/>
                        </a:spcAft>
                      </a:pPr>
                      <a:r>
                        <a:rPr sz="1200" b="0" i="0">
                          <a:solidFill>
                            <a:srgbClr val="222222"/>
                          </a:solidFill>
                          <a:latin typeface="Calibri"/>
                        </a:rPr>
                        <a:t>surrogate regret</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sum_t F_t(P_t) - min_P sum_t F_t(P), the minimum computed exactly by an LP</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the comparator of Proposition 1, solved to optimality (not an approximation)</a:t>
                      </a:r>
                    </a:p>
                  </a:txBody>
                  <a:tcPr marL="54864" marR="54864" marT="27432" marB="27432" anchor="ctr">
                    <a:solidFill>
                      <a:srgbClr val="FFFFFF"/>
                    </a:solidFill>
                  </a:tcPr>
                </a:tc>
              </a:tr>
              <a:tr h="548640">
                <a:tc>
                  <a:txBody>
                    <a:bodyPr wrap="square"/>
                    <a:lstStyle/>
                    <a:p>
                      <a:pPr algn="l">
                        <a:spcAft>
                          <a:spcPts val="0"/>
                        </a:spcAft>
                      </a:pPr>
                      <a:r>
                        <a:rPr sz="1200" b="0" i="0">
                          <a:solidFill>
                            <a:srgbClr val="222222"/>
                          </a:solidFill>
                          <a:latin typeface="Calibri"/>
                        </a:rPr>
                        <a:t>running time</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1e6 * wall-clock time of the request loop / T</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measures the algorithm only, not the catalogue or the trace</a:t>
                      </a:r>
                    </a:p>
                  </a:txBody>
                  <a:tcPr marL="54864" marR="54864" marT="27432" marB="27432" anchor="ctr">
                    <a:solidFill>
                      <a:srgbClr val="EEF2F8"/>
                    </a:solidFill>
                  </a:tcPr>
                </a:tc>
              </a:tr>
              <a:tr h="548640">
                <a:tc>
                  <a:txBody>
                    <a:bodyPr wrap="square"/>
                    <a:lstStyle/>
                    <a:p>
                      <a:pPr algn="l">
                        <a:spcAft>
                          <a:spcPts val="0"/>
                        </a:spcAft>
                      </a:pPr>
                      <a:r>
                        <a:rPr sz="1200" b="0" i="0">
                          <a:solidFill>
                            <a:srgbClr val="222222"/>
                          </a:solidFill>
                          <a:latin typeface="Calibri"/>
                        </a:rPr>
                        <a:t>latency per unit resource</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L / sum_t U^max_t</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proposal eq. (34)</a:t>
                      </a:r>
                    </a:p>
                  </a:txBody>
                  <a:tcPr marL="54864" marR="54864" marT="27432" marB="27432"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Result 1 - the adversarial family</a:t>
            </a:r>
          </a:p>
          <a:p>
            <a:pPr algn="l">
              <a:spcAft>
                <a:spcPts val="600"/>
              </a:spcAft>
            </a:pPr>
            <a:r>
              <a:rPr sz="1400" b="0" i="1">
                <a:solidFill>
                  <a:srgbClr val="595959"/>
                </a:solidFill>
                <a:latin typeface="Calibri"/>
              </a:rPr>
              <a:t>the paper's Large Sequence, OPT = (k+2n)l</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9</a:t>
            </a:r>
          </a:p>
        </p:txBody>
      </p:sp>
      <p:pic>
        <p:nvPicPr>
          <p:cNvPr id="5" name="Picture 4" descr="slides_gamma_adv.png"/>
          <p:cNvPicPr>
            <a:picLocks noChangeAspect="1"/>
          </p:cNvPicPr>
          <p:nvPr/>
        </p:nvPicPr>
        <p:blipFill>
          <a:blip r:embed="rId2"/>
          <a:stretch>
            <a:fillRect/>
          </a:stretch>
        </p:blipFill>
        <p:spPr>
          <a:xfrm>
            <a:off x="548640" y="1234440"/>
            <a:ext cx="6949440" cy="2461260"/>
          </a:xfrm>
          <a:prstGeom prst="rect">
            <a:avLst/>
          </a:prstGeom>
        </p:spPr>
      </p:pic>
      <p:graphicFrame>
        <p:nvGraphicFramePr>
          <p:cNvPr id="6" name="Table 5"/>
          <p:cNvGraphicFramePr>
            <a:graphicFrameLocks noGrp="1"/>
          </p:cNvGraphicFramePr>
          <p:nvPr/>
        </p:nvGraphicFramePr>
        <p:xfrm>
          <a:off x="7635240" y="1280160"/>
          <a:ext cx="4023357" cy="3291840"/>
        </p:xfrm>
        <a:graphic>
          <a:graphicData uri="http://schemas.openxmlformats.org/drawingml/2006/table">
            <a:tbl>
              <a:tblPr firstRow="1" bandRow="1">
                <a:tableStyleId>{5C22544A-7EE6-4342-B048-85BDC9FD1C3A}</a:tableStyleId>
              </a:tblPr>
              <a:tblGrid>
                <a:gridCol w="496711"/>
                <a:gridCol w="695395"/>
                <a:gridCol w="645724"/>
                <a:gridCol w="695395"/>
                <a:gridCol w="745066"/>
                <a:gridCol w="745066"/>
              </a:tblGrid>
              <a:tr h="365760">
                <a:tc>
                  <a:txBody>
                    <a:bodyPr wrap="square"/>
                    <a:lstStyle/>
                    <a:p>
                      <a:pPr algn="l">
                        <a:spcAft>
                          <a:spcPts val="0"/>
                        </a:spcAft>
                      </a:pPr>
                      <a:r>
                        <a:rPr sz="1050" b="1" i="0">
                          <a:solidFill>
                            <a:srgbClr val="FFFFFF"/>
                          </a:solidFill>
                          <a:latin typeface="Calibri"/>
                        </a:rPr>
                        <a:t>k</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gamma det.</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gamma R3</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gamma rand.</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cost det.</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cost rand.</a:t>
                      </a:r>
                    </a:p>
                  </a:txBody>
                  <a:tcPr marL="54864" marR="54864" marT="27432" marB="27432" anchor="ctr">
                    <a:solidFill>
                      <a:srgbClr val="1F3B73"/>
                    </a:solidFill>
                  </a:tcPr>
                </a:tc>
              </a:tr>
              <a:tr h="365760">
                <a:tc>
                  <a:txBody>
                    <a:bodyPr wrap="square"/>
                    <a:lstStyle/>
                    <a:p>
                      <a:pPr algn="l">
                        <a:spcAft>
                          <a:spcPts val="0"/>
                        </a:spcAft>
                      </a:pPr>
                      <a:r>
                        <a:rPr sz="1050" b="0" i="0">
                          <a:solidFill>
                            <a:srgbClr val="222222"/>
                          </a:solidFill>
                          <a:latin typeface="Calibri"/>
                        </a:rPr>
                        <a:t>3</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6.33</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6.0</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2.65</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204</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42</a:t>
                      </a:r>
                    </a:p>
                  </a:txBody>
                  <a:tcPr marL="54864" marR="54864" marT="27432" marB="27432" anchor="ctr">
                    <a:solidFill>
                      <a:srgbClr val="FFFFFF"/>
                    </a:solidFill>
                  </a:tcPr>
                </a:tc>
              </a:tr>
              <a:tr h="365760">
                <a:tc>
                  <a:txBody>
                    <a:bodyPr wrap="square"/>
                    <a:lstStyle/>
                    <a:p>
                      <a:pPr algn="l">
                        <a:spcAft>
                          <a:spcPts val="0"/>
                        </a:spcAft>
                      </a:pPr>
                      <a:r>
                        <a:rPr sz="1050" b="0" i="0">
                          <a:solidFill>
                            <a:srgbClr val="222222"/>
                          </a:solidFill>
                          <a:latin typeface="Calibri"/>
                        </a:rPr>
                        <a:t>6</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12.33</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11.7</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2.68</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840</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85</a:t>
                      </a:r>
                    </a:p>
                  </a:txBody>
                  <a:tcPr marL="54864" marR="54864" marT="27432" marB="27432" anchor="ctr">
                    <a:solidFill>
                      <a:srgbClr val="EEF2F8"/>
                    </a:solidFill>
                  </a:tcPr>
                </a:tc>
              </a:tr>
              <a:tr h="365760">
                <a:tc>
                  <a:txBody>
                    <a:bodyPr wrap="square"/>
                    <a:lstStyle/>
                    <a:p>
                      <a:pPr algn="l">
                        <a:spcAft>
                          <a:spcPts val="0"/>
                        </a:spcAft>
                      </a:pPr>
                      <a:r>
                        <a:rPr sz="1050" b="0" i="0">
                          <a:solidFill>
                            <a:srgbClr val="222222"/>
                          </a:solidFill>
                          <a:latin typeface="Calibri"/>
                        </a:rPr>
                        <a:t>9</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18.33</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17.5</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3.17</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1,908</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146</a:t>
                      </a:r>
                    </a:p>
                  </a:txBody>
                  <a:tcPr marL="54864" marR="54864" marT="27432" marB="27432" anchor="ctr">
                    <a:solidFill>
                      <a:srgbClr val="FFFFFF"/>
                    </a:solidFill>
                  </a:tcPr>
                </a:tc>
              </a:tr>
              <a:tr h="365760">
                <a:tc>
                  <a:txBody>
                    <a:bodyPr wrap="square"/>
                    <a:lstStyle/>
                    <a:p>
                      <a:pPr algn="l">
                        <a:spcAft>
                          <a:spcPts val="0"/>
                        </a:spcAft>
                      </a:pPr>
                      <a:r>
                        <a:rPr sz="1050" b="0" i="0">
                          <a:solidFill>
                            <a:srgbClr val="222222"/>
                          </a:solidFill>
                          <a:latin typeface="Calibri"/>
                        </a:rPr>
                        <a:t>12</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24.33</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22.9</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3.57</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3,408</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216</a:t>
                      </a:r>
                    </a:p>
                  </a:txBody>
                  <a:tcPr marL="54864" marR="54864" marT="27432" marB="27432" anchor="ctr">
                    <a:solidFill>
                      <a:srgbClr val="EEF2F8"/>
                    </a:solidFill>
                  </a:tcPr>
                </a:tc>
              </a:tr>
              <a:tr h="365760">
                <a:tc>
                  <a:txBody>
                    <a:bodyPr wrap="square"/>
                    <a:lstStyle/>
                    <a:p>
                      <a:pPr algn="l">
                        <a:spcAft>
                          <a:spcPts val="0"/>
                        </a:spcAft>
                      </a:pPr>
                      <a:r>
                        <a:rPr sz="1050" b="0" i="0">
                          <a:solidFill>
                            <a:srgbClr val="222222"/>
                          </a:solidFill>
                          <a:latin typeface="Calibri"/>
                        </a:rPr>
                        <a:t>15</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30.33</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28.5</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2.74</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5,340</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158</a:t>
                      </a:r>
                    </a:p>
                  </a:txBody>
                  <a:tcPr marL="54864" marR="54864" marT="27432" marB="27432" anchor="ctr">
                    <a:solidFill>
                      <a:srgbClr val="FFFFFF"/>
                    </a:solidFill>
                  </a:tcPr>
                </a:tc>
              </a:tr>
              <a:tr h="365760">
                <a:tc>
                  <a:txBody>
                    <a:bodyPr wrap="square"/>
                    <a:lstStyle/>
                    <a:p>
                      <a:pPr algn="l">
                        <a:spcAft>
                          <a:spcPts val="0"/>
                        </a:spcAft>
                      </a:pPr>
                      <a:r>
                        <a:rPr sz="1050" b="0" i="0">
                          <a:solidFill>
                            <a:srgbClr val="222222"/>
                          </a:solidFill>
                          <a:latin typeface="Calibri"/>
                        </a:rPr>
                        <a:t>18</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36.33</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34.2</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3.66</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7,704</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325</a:t>
                      </a:r>
                    </a:p>
                  </a:txBody>
                  <a:tcPr marL="54864" marR="54864" marT="27432" marB="27432" anchor="ctr">
                    <a:solidFill>
                      <a:srgbClr val="EEF2F8"/>
                    </a:solidFill>
                  </a:tcPr>
                </a:tc>
              </a:tr>
              <a:tr h="365760">
                <a:tc>
                  <a:txBody>
                    <a:bodyPr wrap="square"/>
                    <a:lstStyle/>
                    <a:p>
                      <a:pPr algn="l">
                        <a:spcAft>
                          <a:spcPts val="0"/>
                        </a:spcAft>
                      </a:pPr>
                      <a:r>
                        <a:rPr sz="1050" b="0" i="0">
                          <a:solidFill>
                            <a:srgbClr val="222222"/>
                          </a:solidFill>
                          <a:latin typeface="Calibri"/>
                        </a:rPr>
                        <a:t>21</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42.33</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39.9</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3.25</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10,500</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275</a:t>
                      </a:r>
                    </a:p>
                  </a:txBody>
                  <a:tcPr marL="54864" marR="54864" marT="27432" marB="27432" anchor="ctr">
                    <a:solidFill>
                      <a:srgbClr val="FFFFFF"/>
                    </a:solidFill>
                  </a:tcPr>
                </a:tc>
              </a:tr>
              <a:tr h="365760">
                <a:tc>
                  <a:txBody>
                    <a:bodyPr wrap="square"/>
                    <a:lstStyle/>
                    <a:p>
                      <a:pPr algn="l">
                        <a:spcAft>
                          <a:spcPts val="0"/>
                        </a:spcAft>
                      </a:pPr>
                      <a:r>
                        <a:rPr sz="1050" b="0" i="0">
                          <a:solidFill>
                            <a:srgbClr val="222222"/>
                          </a:solidFill>
                          <a:latin typeface="Calibri"/>
                        </a:rPr>
                        <a:t>24</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48.33</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45.6</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2.84</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13,728</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234</a:t>
                      </a:r>
                    </a:p>
                  </a:txBody>
                  <a:tcPr marL="54864" marR="54864" marT="27432" marB="27432" anchor="ctr">
                    <a:solidFill>
                      <a:srgbClr val="EEF2F8"/>
                    </a:solidFill>
                  </a:tcPr>
                </a:tc>
              </a:tr>
            </a:tbl>
          </a:graphicData>
        </a:graphic>
      </p:graphicFrame>
      <p:sp>
        <p:nvSpPr>
          <p:cNvPr id="7" name="Rectangle 6"/>
          <p:cNvSpPr/>
          <p:nvPr/>
        </p:nvSpPr>
        <p:spPr>
          <a:xfrm>
            <a:off x="548640" y="4709160"/>
            <a:ext cx="11064240" cy="1143000"/>
          </a:xfrm>
          <a:prstGeom prst="rect">
            <a:avLst/>
          </a:prstGeom>
          <a:solidFill>
            <a:srgbClr val="EEF2F8"/>
          </a:solidFill>
          <a:ln w="15875">
            <a:solidFill>
              <a:srgbClr val="1F3B7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82296"/>
          <a:lstStyle/>
          <a:p>
            <a:pPr algn="l">
              <a:spcAft>
                <a:spcPts val="300"/>
              </a:spcAft>
            </a:pPr>
            <a:r>
              <a:rPr sz="1400" b="1" i="0">
                <a:solidFill>
                  <a:srgbClr val="1F3B73"/>
                </a:solidFill>
                <a:latin typeface="Calibri"/>
              </a:rPr>
              <a:t>Takeaway:</a:t>
            </a:r>
          </a:p>
          <a:p>
            <a:pPr algn="l">
              <a:spcAft>
                <a:spcPts val="600"/>
              </a:spcAft>
            </a:pPr>
            <a:r>
              <a:rPr sz="1300" b="0" i="0">
                <a:solidFill>
                  <a:srgbClr val="222222"/>
                </a:solidFill>
                <a:latin typeface="Calibri"/>
              </a:rPr>
              <a:t>Online-DRL is EXACTLY linear: gamma = 2.00k + 0.33 (R^2 = 1.000).  R3 alone does not help (1.88k): the blow-up comes from the cache management, not from the download trigger.  With R1+R2+R3 the ratio is FLAT (gamma ~ 3) and the download cost is 5-60x lower.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Result 2 - ordinary traffic: it EQUALIZES</a:t>
            </a:r>
          </a:p>
          <a:p>
            <a:pPr algn="l">
              <a:spcAft>
                <a:spcPts val="600"/>
              </a:spcAft>
            </a:pPr>
            <a:r>
              <a:rPr sz="1400" b="0" i="1">
                <a:solidFill>
                  <a:srgbClr val="595959"/>
                </a:solidFill>
                <a:latin typeface="Calibri"/>
              </a:rPr>
              <a:t>Zipf/Poisson, offline optimum = MILP</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10</a:t>
            </a:r>
          </a:p>
        </p:txBody>
      </p:sp>
      <p:pic>
        <p:nvPicPr>
          <p:cNvPr id="5" name="Picture 4" descr="slides_gamma_zipf.png"/>
          <p:cNvPicPr>
            <a:picLocks noChangeAspect="1"/>
          </p:cNvPicPr>
          <p:nvPr/>
        </p:nvPicPr>
        <p:blipFill>
          <a:blip r:embed="rId2"/>
          <a:stretch>
            <a:fillRect/>
          </a:stretch>
        </p:blipFill>
        <p:spPr>
          <a:xfrm>
            <a:off x="548640" y="1234440"/>
            <a:ext cx="6949440" cy="2461260"/>
          </a:xfrm>
          <a:prstGeom prst="rect">
            <a:avLst/>
          </a:prstGeom>
        </p:spPr>
      </p:pic>
      <p:sp>
        <p:nvSpPr>
          <p:cNvPr id="6" name="TextBox 5"/>
          <p:cNvSpPr txBox="1"/>
          <p:nvPr/>
        </p:nvSpPr>
        <p:spPr>
          <a:xfrm>
            <a:off x="7680960" y="1280160"/>
            <a:ext cx="4023360" cy="3108960"/>
          </a:xfrm>
          <a:prstGeom prst="rect">
            <a:avLst/>
          </a:prstGeom>
          <a:noFill/>
        </p:spPr>
        <p:txBody>
          <a:bodyPr wrap="square">
            <a:spAutoFit/>
          </a:bodyPr>
          <a:lstStyle/>
          <a:p>
            <a:pPr algn="l">
              <a:spcAft>
                <a:spcPts val="800"/>
              </a:spcAft>
            </a:pPr>
            <a:r>
              <a:rPr sz="1500" b="0" i="0">
                <a:solidFill>
                  <a:srgbClr val="222222"/>
                </a:solidFill>
                <a:latin typeface="Calibri"/>
              </a:rPr>
              <a:t>•  All algorithms are flat in k: the resource limits bind before the cardinality does.</a:t>
            </a:r>
          </a:p>
          <a:p>
            <a:pPr algn="l">
              <a:spcAft>
                <a:spcPts val="800"/>
              </a:spcAft>
            </a:pPr>
            <a:r>
              <a:rPr sz="1500" b="0" i="0">
                <a:solidFill>
                  <a:srgbClr val="222222"/>
                </a:solidFill>
                <a:latin typeface="Calibri"/>
              </a:rPr>
              <a:t>•  Randomized 1.430 vs Online-DRL 1.443 - parity in the ratio, 3x less download cost.</a:t>
            </a:r>
          </a:p>
          <a:p>
            <a:pPr algn="l">
              <a:spcAft>
                <a:spcPts val="800"/>
              </a:spcAft>
            </a:pPr>
            <a:r>
              <a:rPr sz="1500" b="0" i="0">
                <a:solidFill>
                  <a:srgbClr val="222222"/>
                </a:solidFill>
                <a:latin typeface="Calibri"/>
              </a:rPr>
              <a:t>•  On SHORT traces (T = 120, 5 traces, MILP optimal) it is worse: 1.279 +- 0.138 vs 1.145 +- 0.072 (Online-DRL) and 1.102 (R3 only) - the fractional state has to be learned first.</a:t>
            </a:r>
          </a:p>
        </p:txBody>
      </p:sp>
      <p:sp>
        <p:nvSpPr>
          <p:cNvPr id="7" name="Rectangle 6"/>
          <p:cNvSpPr/>
          <p:nvPr/>
        </p:nvSpPr>
        <p:spPr>
          <a:xfrm>
            <a:off x="548640" y="5029200"/>
            <a:ext cx="11064240" cy="822960"/>
          </a:xfrm>
          <a:prstGeom prst="rect">
            <a:avLst/>
          </a:prstGeom>
          <a:solidFill>
            <a:srgbClr val="EEF2F8"/>
          </a:solidFill>
          <a:ln w="15875">
            <a:solidFill>
              <a:srgbClr val="1F3B7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82296"/>
          <a:lstStyle/>
          <a:p>
            <a:pPr algn="l">
              <a:spcAft>
                <a:spcPts val="300"/>
              </a:spcAft>
            </a:pPr>
            <a:r>
              <a:rPr sz="1400" b="1" i="0">
                <a:solidFill>
                  <a:srgbClr val="1F3B73"/>
                </a:solidFill>
                <a:latin typeface="Calibri"/>
              </a:rPr>
              <a:t>Takeaway:</a:t>
            </a:r>
          </a:p>
          <a:p>
            <a:pPr algn="l">
              <a:spcAft>
                <a:spcPts val="600"/>
              </a:spcAft>
            </a:pPr>
            <a:r>
              <a:rPr sz="1300" b="0" i="0">
                <a:solidFill>
                  <a:srgbClr val="222222"/>
                </a:solidFill>
                <a:latin typeface="Calibri"/>
              </a:rPr>
              <a:t>on easy workloads randomization buys COST and utilization, not ratio.  Its advantage appears in the worst case.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Result 3 - the multi-resource setting</a:t>
            </a:r>
          </a:p>
          <a:p>
            <a:pPr algn="l">
              <a:spcAft>
                <a:spcPts val="600"/>
              </a:spcAft>
            </a:pPr>
            <a:r>
              <a:rPr sz="1400" b="0" i="1">
                <a:solidFill>
                  <a:srgbClr val="595959"/>
                </a:solidFill>
                <a:latin typeface="Calibri"/>
              </a:rPr>
              <a:t>CPU, RAM and disk at the same time</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11</a:t>
            </a:r>
          </a:p>
        </p:txBody>
      </p:sp>
      <p:pic>
        <p:nvPicPr>
          <p:cNvPr id="5" name="Picture 4" descr="slides_multiresource.png"/>
          <p:cNvPicPr>
            <a:picLocks noChangeAspect="1"/>
          </p:cNvPicPr>
          <p:nvPr/>
        </p:nvPicPr>
        <p:blipFill>
          <a:blip r:embed="rId2"/>
          <a:stretch>
            <a:fillRect/>
          </a:stretch>
        </p:blipFill>
        <p:spPr>
          <a:xfrm>
            <a:off x="548640" y="1188720"/>
            <a:ext cx="6766560" cy="2396490"/>
          </a:xfrm>
          <a:prstGeom prst="rect">
            <a:avLst/>
          </a:prstGeom>
        </p:spPr>
      </p:pic>
      <p:graphicFrame>
        <p:nvGraphicFramePr>
          <p:cNvPr id="6" name="Table 5"/>
          <p:cNvGraphicFramePr>
            <a:graphicFrameLocks noGrp="1"/>
          </p:cNvGraphicFramePr>
          <p:nvPr/>
        </p:nvGraphicFramePr>
        <p:xfrm>
          <a:off x="7498079" y="1234440"/>
          <a:ext cx="4206237" cy="2103120"/>
        </p:xfrm>
        <a:graphic>
          <a:graphicData uri="http://schemas.openxmlformats.org/drawingml/2006/table">
            <a:tbl>
              <a:tblPr firstRow="1" bandRow="1">
                <a:tableStyleId>{5C22544A-7EE6-4342-B048-85BDC9FD1C3A}</a:tableStyleId>
              </a:tblPr>
              <a:tblGrid>
                <a:gridCol w="1001485"/>
                <a:gridCol w="701040"/>
                <a:gridCol w="701040"/>
                <a:gridCol w="400594"/>
                <a:gridCol w="500742"/>
                <a:gridCol w="500742"/>
                <a:gridCol w="400594"/>
              </a:tblGrid>
              <a:tr h="420624">
                <a:tc>
                  <a:txBody>
                    <a:bodyPr wrap="square"/>
                    <a:lstStyle/>
                    <a:p>
                      <a:pPr algn="l">
                        <a:spcAft>
                          <a:spcPts val="0"/>
                        </a:spcAft>
                      </a:pPr>
                      <a:r>
                        <a:rPr sz="1050" b="1" i="0">
                          <a:solidFill>
                            <a:srgbClr val="FFFFFF"/>
                          </a:solidFill>
                          <a:latin typeface="Calibri"/>
                        </a:rPr>
                        <a:t>algorithm</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latency</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cost</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dl</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U^max</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imb</a:t>
                      </a:r>
                    </a:p>
                  </a:txBody>
                  <a:tcPr marL="54864" marR="54864" marT="27432" marB="27432" anchor="ctr">
                    <a:solidFill>
                      <a:srgbClr val="1F3B73"/>
                    </a:solidFill>
                  </a:tcPr>
                </a:tc>
                <a:tc>
                  <a:txBody>
                    <a:bodyPr wrap="square"/>
                    <a:lstStyle/>
                    <a:p>
                      <a:pPr algn="l">
                        <a:spcAft>
                          <a:spcPts val="0"/>
                        </a:spcAft>
                      </a:pPr>
                      <a:r>
                        <a:rPr sz="1050" b="1" i="0">
                          <a:solidFill>
                            <a:srgbClr val="FFFFFF"/>
                          </a:solidFill>
                          <a:latin typeface="Calibri"/>
                        </a:rPr>
                        <a:t>viol.</a:t>
                      </a:r>
                    </a:p>
                  </a:txBody>
                  <a:tcPr marL="54864" marR="54864" marT="27432" marB="27432" anchor="ctr">
                    <a:solidFill>
                      <a:srgbClr val="1F3B73"/>
                    </a:solidFill>
                  </a:tcPr>
                </a:tc>
              </a:tr>
              <a:tr h="420624">
                <a:tc>
                  <a:txBody>
                    <a:bodyPr wrap="square"/>
                    <a:lstStyle/>
                    <a:p>
                      <a:pPr algn="l">
                        <a:spcAft>
                          <a:spcPts val="0"/>
                        </a:spcAft>
                      </a:pPr>
                      <a:r>
                        <a:rPr sz="1050" b="0" i="0">
                          <a:solidFill>
                            <a:srgbClr val="222222"/>
                          </a:solidFill>
                          <a:latin typeface="Calibri"/>
                        </a:rPr>
                        <a:t>Online-DRL</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136,226</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188,421</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517</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0.786</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0.459</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0.00</a:t>
                      </a:r>
                    </a:p>
                  </a:txBody>
                  <a:tcPr marL="54864" marR="54864" marT="27432" marB="27432" anchor="ctr">
                    <a:solidFill>
                      <a:srgbClr val="FFFFFF"/>
                    </a:solidFill>
                  </a:tcPr>
                </a:tc>
              </a:tr>
              <a:tr h="420624">
                <a:tc>
                  <a:txBody>
                    <a:bodyPr wrap="square"/>
                    <a:lstStyle/>
                    <a:p>
                      <a:pPr algn="l">
                        <a:spcAft>
                          <a:spcPts val="0"/>
                        </a:spcAft>
                      </a:pPr>
                      <a:r>
                        <a:rPr sz="1050" b="0" i="0">
                          <a:solidFill>
                            <a:srgbClr val="222222"/>
                          </a:solidFill>
                          <a:latin typeface="Calibri"/>
                        </a:rPr>
                        <a:t>LL-RC</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139,029</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383,559</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1020</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0.792</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0.463</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0.00</a:t>
                      </a:r>
                    </a:p>
                  </a:txBody>
                  <a:tcPr marL="54864" marR="54864" marT="27432" marB="27432" anchor="ctr">
                    <a:solidFill>
                      <a:srgbClr val="EEF2F8"/>
                    </a:solidFill>
                  </a:tcPr>
                </a:tc>
              </a:tr>
              <a:tr h="420624">
                <a:tc>
                  <a:txBody>
                    <a:bodyPr wrap="square"/>
                    <a:lstStyle/>
                    <a:p>
                      <a:pPr algn="l">
                        <a:spcAft>
                          <a:spcPts val="0"/>
                        </a:spcAft>
                      </a:pPr>
                      <a:r>
                        <a:rPr sz="1050" b="0" i="0">
                          <a:solidFill>
                            <a:srgbClr val="222222"/>
                          </a:solidFill>
                          <a:latin typeface="Calibri"/>
                        </a:rPr>
                        <a:t>R3 only</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135,551</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226,880</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611</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0.787</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0.461</a:t>
                      </a:r>
                    </a:p>
                  </a:txBody>
                  <a:tcPr marL="54864" marR="54864" marT="27432" marB="27432" anchor="ctr">
                    <a:solidFill>
                      <a:srgbClr val="FFFFFF"/>
                    </a:solidFill>
                  </a:tcPr>
                </a:tc>
                <a:tc>
                  <a:txBody>
                    <a:bodyPr wrap="square"/>
                    <a:lstStyle/>
                    <a:p>
                      <a:pPr algn="l">
                        <a:spcAft>
                          <a:spcPts val="0"/>
                        </a:spcAft>
                      </a:pPr>
                      <a:r>
                        <a:rPr sz="1050" b="0" i="0">
                          <a:solidFill>
                            <a:srgbClr val="222222"/>
                          </a:solidFill>
                          <a:latin typeface="Calibri"/>
                        </a:rPr>
                        <a:t>0.00</a:t>
                      </a:r>
                    </a:p>
                  </a:txBody>
                  <a:tcPr marL="54864" marR="54864" marT="27432" marB="27432" anchor="ctr">
                    <a:solidFill>
                      <a:srgbClr val="FFFFFF"/>
                    </a:solidFill>
                  </a:tcPr>
                </a:tc>
              </a:tr>
              <a:tr h="420624">
                <a:tc>
                  <a:txBody>
                    <a:bodyPr wrap="square"/>
                    <a:lstStyle/>
                    <a:p>
                      <a:pPr algn="l">
                        <a:spcAft>
                          <a:spcPts val="0"/>
                        </a:spcAft>
                      </a:pPr>
                      <a:r>
                        <a:rPr sz="1050" b="0" i="0">
                          <a:solidFill>
                            <a:srgbClr val="222222"/>
                          </a:solidFill>
                          <a:latin typeface="Calibri"/>
                        </a:rPr>
                        <a:t>Randomized DRL</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87,333</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16,263</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40</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0.740</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0.334</a:t>
                      </a:r>
                    </a:p>
                  </a:txBody>
                  <a:tcPr marL="54864" marR="54864" marT="27432" marB="27432" anchor="ctr">
                    <a:solidFill>
                      <a:srgbClr val="EEF2F8"/>
                    </a:solidFill>
                  </a:tcPr>
                </a:tc>
                <a:tc>
                  <a:txBody>
                    <a:bodyPr wrap="square"/>
                    <a:lstStyle/>
                    <a:p>
                      <a:pPr algn="l">
                        <a:spcAft>
                          <a:spcPts val="0"/>
                        </a:spcAft>
                      </a:pPr>
                      <a:r>
                        <a:rPr sz="1050" b="0" i="0">
                          <a:solidFill>
                            <a:srgbClr val="222222"/>
                          </a:solidFill>
                          <a:latin typeface="Calibri"/>
                        </a:rPr>
                        <a:t>0.00</a:t>
                      </a:r>
                    </a:p>
                  </a:txBody>
                  <a:tcPr marL="54864" marR="54864" marT="27432" marB="27432" anchor="ctr">
                    <a:solidFill>
                      <a:srgbClr val="EEF2F8"/>
                    </a:solidFill>
                  </a:tcPr>
                </a:tc>
              </a:tr>
            </a:tbl>
          </a:graphicData>
        </a:graphic>
      </p:graphicFrame>
      <p:sp>
        <p:nvSpPr>
          <p:cNvPr id="7" name="TextBox 6"/>
          <p:cNvSpPr txBox="1"/>
          <p:nvPr/>
        </p:nvSpPr>
        <p:spPr>
          <a:xfrm>
            <a:off x="7498079" y="3520440"/>
            <a:ext cx="4206240" cy="2011680"/>
          </a:xfrm>
          <a:prstGeom prst="rect">
            <a:avLst/>
          </a:prstGeom>
          <a:noFill/>
        </p:spPr>
        <p:txBody>
          <a:bodyPr wrap="square">
            <a:spAutoFit/>
          </a:bodyPr>
          <a:lstStyle/>
          <a:p>
            <a:pPr algn="l">
              <a:spcAft>
                <a:spcPts val="600"/>
              </a:spcAft>
            </a:pPr>
            <a:r>
              <a:rPr sz="1400" b="0" i="0">
                <a:solidFill>
                  <a:srgbClr val="222222"/>
                </a:solidFill>
                <a:latin typeface="Calibri"/>
              </a:rPr>
              <a:t>•  5-13x fewer downloads, 30-36 % less latency, less imbalance and less stranded capacity, and 0 % violations of the three resources.</a:t>
            </a:r>
          </a:p>
          <a:p>
            <a:pPr algn="l">
              <a:spcAft>
                <a:spcPts val="0"/>
              </a:spcAft>
            </a:pPr>
            <a:r>
              <a:rPr sz="1400" b="0" i="0">
                <a:solidFill>
                  <a:srgbClr val="222222"/>
                </a:solidFill>
                <a:latin typeface="Calibri"/>
              </a:rPr>
              <a:t>•  Part of the gain is 'simply downloading less' on a stationary popularity - the specifically multi-resource advantage still needs a non-stationary resource mix.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The goals of the proposal - which ones hold</a:t>
            </a:r>
          </a:p>
          <a:p>
            <a:pPr algn="l">
              <a:spcAft>
                <a:spcPts val="600"/>
              </a:spcAft>
            </a:pPr>
            <a:r>
              <a:rPr sz="1400" b="0" i="1">
                <a:solidFill>
                  <a:srgbClr val="595959"/>
                </a:solidFill>
                <a:latin typeface="Calibri"/>
              </a:rPr>
              <a:t>G1 - G5, measured</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12</a:t>
            </a:r>
          </a:p>
        </p:txBody>
      </p:sp>
      <p:graphicFrame>
        <p:nvGraphicFramePr>
          <p:cNvPr id="5" name="Table 4"/>
          <p:cNvGraphicFramePr>
            <a:graphicFrameLocks noGrp="1"/>
          </p:cNvGraphicFramePr>
          <p:nvPr/>
        </p:nvGraphicFramePr>
        <p:xfrm>
          <a:off x="640080" y="1371600"/>
          <a:ext cx="10881360" cy="4206240"/>
        </p:xfrm>
        <a:graphic>
          <a:graphicData uri="http://schemas.openxmlformats.org/drawingml/2006/table">
            <a:tbl>
              <a:tblPr firstRow="1" bandRow="1">
                <a:tableStyleId>{5C22544A-7EE6-4342-B048-85BDC9FD1C3A}</a:tableStyleId>
              </a:tblPr>
              <a:tblGrid>
                <a:gridCol w="2103120"/>
                <a:gridCol w="5760720"/>
                <a:gridCol w="3017520"/>
              </a:tblGrid>
              <a:tr h="600891">
                <a:tc>
                  <a:txBody>
                    <a:bodyPr wrap="square"/>
                    <a:lstStyle/>
                    <a:p>
                      <a:pPr algn="l">
                        <a:spcAft>
                          <a:spcPts val="0"/>
                        </a:spcAft>
                      </a:pPr>
                      <a:r>
                        <a:rPr sz="1200" b="1" i="0">
                          <a:solidFill>
                            <a:srgbClr val="FFFFFF"/>
                          </a:solidFill>
                          <a:latin typeface="Calibri"/>
                        </a:rPr>
                        <a:t>goal</a:t>
                      </a:r>
                    </a:p>
                  </a:txBody>
                  <a:tcPr marL="54864" marR="54864" marT="27432" marB="27432" anchor="ctr">
                    <a:solidFill>
                      <a:srgbClr val="1F3B73"/>
                    </a:solidFill>
                  </a:tcPr>
                </a:tc>
                <a:tc>
                  <a:txBody>
                    <a:bodyPr wrap="square"/>
                    <a:lstStyle/>
                    <a:p>
                      <a:pPr algn="l">
                        <a:spcAft>
                          <a:spcPts val="0"/>
                        </a:spcAft>
                      </a:pPr>
                      <a:r>
                        <a:rPr sz="1200" b="1" i="0">
                          <a:solidFill>
                            <a:srgbClr val="FFFFFF"/>
                          </a:solidFill>
                          <a:latin typeface="Calibri"/>
                        </a:rPr>
                        <a:t>measured</a:t>
                      </a:r>
                    </a:p>
                  </a:txBody>
                  <a:tcPr marL="54864" marR="54864" marT="27432" marB="27432" anchor="ctr">
                    <a:solidFill>
                      <a:srgbClr val="1F3B73"/>
                    </a:solidFill>
                  </a:tcPr>
                </a:tc>
                <a:tc>
                  <a:txBody>
                    <a:bodyPr wrap="square"/>
                    <a:lstStyle/>
                    <a:p>
                      <a:pPr algn="l">
                        <a:spcAft>
                          <a:spcPts val="0"/>
                        </a:spcAft>
                      </a:pPr>
                      <a:r>
                        <a:rPr sz="1200" b="1" i="0">
                          <a:solidFill>
                            <a:srgbClr val="FFFFFF"/>
                          </a:solidFill>
                          <a:latin typeface="Calibri"/>
                        </a:rPr>
                        <a:t>verdict</a:t>
                      </a:r>
                    </a:p>
                  </a:txBody>
                  <a:tcPr marL="54864" marR="54864" marT="27432" marB="27432" anchor="ctr">
                    <a:solidFill>
                      <a:srgbClr val="1F3B73"/>
                    </a:solidFill>
                  </a:tcPr>
                </a:tc>
              </a:tr>
              <a:tr h="600891">
                <a:tc>
                  <a:txBody>
                    <a:bodyPr wrap="square"/>
                    <a:lstStyle/>
                    <a:p>
                      <a:pPr algn="l">
                        <a:spcAft>
                          <a:spcPts val="0"/>
                        </a:spcAft>
                      </a:pPr>
                      <a:r>
                        <a:rPr sz="1200" b="0" i="0">
                          <a:solidFill>
                            <a:srgbClr val="222222"/>
                          </a:solidFill>
                          <a:latin typeface="Calibri"/>
                        </a:rPr>
                        <a:t>G1 feasibility</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the un-repaired rounding violates the true limits in 40 % of the (path, step) pairs and reaches 1.73x the capacity; with the repair 0 %</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CONFIRMED (repair mandatory)</a:t>
                      </a:r>
                    </a:p>
                  </a:txBody>
                  <a:tcPr marL="54864" marR="54864" marT="27432" marB="27432" anchor="ctr">
                    <a:solidFill>
                      <a:srgbClr val="FFFFFF"/>
                    </a:solidFill>
                  </a:tcPr>
                </a:tc>
              </a:tr>
              <a:tr h="600891">
                <a:tc>
                  <a:txBody>
                    <a:bodyPr wrap="square"/>
                    <a:lstStyle/>
                    <a:p>
                      <a:pPr algn="l">
                        <a:spcAft>
                          <a:spcPts val="0"/>
                        </a:spcAft>
                      </a:pPr>
                      <a:r>
                        <a:rPr sz="1200" b="0" i="0">
                          <a:solidFill>
                            <a:srgbClr val="222222"/>
                          </a:solidFill>
                          <a:latin typeface="Calibri"/>
                        </a:rPr>
                        <a:t>G2 budget</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respected at 20 %, 50 %, 100 % of the deterministic cost, for every seed; the budgeted deterministic algorithm loses 11.6 % latency</a:t>
                      </a:r>
                    </a:p>
                  </a:txBody>
                  <a:tcPr marL="54864" marR="54864" marT="27432" marB="27432" anchor="ctr">
                    <a:solidFill>
                      <a:srgbClr val="EEF2F8"/>
                    </a:solidFill>
                  </a:tcPr>
                </a:tc>
                <a:tc>
                  <a:txBody>
                    <a:bodyPr wrap="square"/>
                    <a:lstStyle/>
                    <a:p>
                      <a:pPr algn="l">
                        <a:spcAft>
                          <a:spcPts val="0"/>
                        </a:spcAft>
                      </a:pPr>
                      <a:r>
                        <a:rPr sz="1200" b="0" i="0">
                          <a:solidFill>
                            <a:srgbClr val="222222"/>
                          </a:solidFill>
                          <a:latin typeface="Calibri"/>
                        </a:rPr>
                        <a:t>CONFIRMED</a:t>
                      </a:r>
                    </a:p>
                  </a:txBody>
                  <a:tcPr marL="54864" marR="54864" marT="27432" marB="27432" anchor="ctr">
                    <a:solidFill>
                      <a:srgbClr val="EEF2F8"/>
                    </a:solidFill>
                  </a:tcPr>
                </a:tc>
              </a:tr>
              <a:tr h="600891">
                <a:tc>
                  <a:txBody>
                    <a:bodyPr wrap="square"/>
                    <a:lstStyle/>
                    <a:p>
                      <a:pPr algn="l">
                        <a:spcAft>
                          <a:spcPts val="0"/>
                        </a:spcAft>
                      </a:pPr>
                      <a:r>
                        <a:rPr sz="1200" b="0" i="0">
                          <a:solidFill>
                            <a:srgbClr val="222222"/>
                          </a:solidFill>
                          <a:latin typeface="Calibri"/>
                        </a:rPr>
                        <a:t>G3 regret (surrogate)</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always below sqrt(N) l_max sqrt(T), exogenous and endogenous, with and without the peek update</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CONFIRMED</a:t>
                      </a:r>
                    </a:p>
                  </a:txBody>
                  <a:tcPr marL="54864" marR="54864" marT="27432" marB="27432" anchor="ctr">
                    <a:solidFill>
                      <a:srgbClr val="FFFFFF"/>
                    </a:solidFill>
                  </a:tcPr>
                </a:tc>
              </a:tr>
              <a:tr h="600891">
                <a:tc>
                  <a:txBody>
                    <a:bodyPr wrap="square"/>
                    <a:lstStyle/>
                    <a:p>
                      <a:pPr algn="l">
                        <a:spcAft>
                          <a:spcPts val="0"/>
                        </a:spcAft>
                      </a:pPr>
                      <a:r>
                        <a:rPr sz="1200" b="0" i="0">
                          <a:solidFill>
                            <a:srgbClr val="222222"/>
                          </a:solidFill>
                          <a:latin typeface="Calibri"/>
                        </a:rPr>
                        <a:t>G3 regret (literal)</a:t>
                      </a:r>
                    </a:p>
                  </a:txBody>
                  <a:tcPr marL="54864" marR="54864" marT="27432" marB="27432" anchor="ctr">
                    <a:solidFill>
                      <a:srgbClr val="FBEAEA"/>
                    </a:solidFill>
                  </a:tcPr>
                </a:tc>
                <a:tc>
                  <a:txBody>
                    <a:bodyPr wrap="square"/>
                    <a:lstStyle/>
                    <a:p>
                      <a:pPr algn="l">
                        <a:spcAft>
                          <a:spcPts val="0"/>
                        </a:spcAft>
                      </a:pPr>
                      <a:r>
                        <a:rPr sz="1200" b="0" i="0">
                          <a:solidFill>
                            <a:srgbClr val="222222"/>
                          </a:solidFill>
                          <a:latin typeface="Calibri"/>
                        </a:rPr>
                        <a:t>3.7-9.6x the bound and growing with T</a:t>
                      </a:r>
                    </a:p>
                  </a:txBody>
                  <a:tcPr marL="54864" marR="54864" marT="27432" marB="27432" anchor="ctr">
                    <a:solidFill>
                      <a:srgbClr val="FBEAEA"/>
                    </a:solidFill>
                  </a:tcPr>
                </a:tc>
                <a:tc>
                  <a:txBody>
                    <a:bodyPr wrap="square"/>
                    <a:lstStyle/>
                    <a:p>
                      <a:pPr algn="l">
                        <a:spcAft>
                          <a:spcPts val="0"/>
                        </a:spcAft>
                      </a:pPr>
                      <a:r>
                        <a:rPr sz="1200" b="0" i="0">
                          <a:solidFill>
                            <a:srgbClr val="222222"/>
                          </a:solidFill>
                          <a:latin typeface="Calibri"/>
                        </a:rPr>
                        <a:t>SURROGATE ONLY - see the next slides</a:t>
                      </a:r>
                    </a:p>
                  </a:txBody>
                  <a:tcPr marL="54864" marR="54864" marT="27432" marB="27432" anchor="ctr">
                    <a:solidFill>
                      <a:srgbClr val="FBEAEA"/>
                    </a:solidFill>
                  </a:tcPr>
                </a:tc>
              </a:tr>
              <a:tr h="600891">
                <a:tc>
                  <a:txBody>
                    <a:bodyPr wrap="square"/>
                    <a:lstStyle/>
                    <a:p>
                      <a:pPr algn="l">
                        <a:spcAft>
                          <a:spcPts val="0"/>
                        </a:spcAft>
                      </a:pPr>
                      <a:r>
                        <a:rPr sz="1200" b="0" i="0">
                          <a:solidFill>
                            <a:srgbClr val="222222"/>
                          </a:solidFill>
                          <a:latin typeface="Calibri"/>
                        </a:rPr>
                        <a:t>G4 expected ratio</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1.102 (R3), 1.145 (Online-DRL), 1.279 (Randomized) on short traces</a:t>
                      </a:r>
                    </a:p>
                  </a:txBody>
                  <a:tcPr marL="54864" marR="54864" marT="27432" marB="27432" anchor="ctr">
                    <a:solidFill>
                      <a:srgbClr val="FFFFFF"/>
                    </a:solidFill>
                  </a:tcPr>
                </a:tc>
                <a:tc>
                  <a:txBody>
                    <a:bodyPr wrap="square"/>
                    <a:lstStyle/>
                    <a:p>
                      <a:pPr algn="l">
                        <a:spcAft>
                          <a:spcPts val="0"/>
                        </a:spcAft>
                      </a:pPr>
                      <a:r>
                        <a:rPr sz="1200" b="0" i="0">
                          <a:solidFill>
                            <a:srgbClr val="222222"/>
                          </a:solidFill>
                          <a:latin typeface="Calibri"/>
                        </a:rPr>
                        <a:t>CONFIRMED (R3 best on short traces)</a:t>
                      </a:r>
                    </a:p>
                  </a:txBody>
                  <a:tcPr marL="54864" marR="54864" marT="27432" marB="27432" anchor="ctr">
                    <a:solidFill>
                      <a:srgbClr val="FFFFFF"/>
                    </a:solidFill>
                  </a:tcPr>
                </a:tc>
              </a:tr>
              <a:tr h="600894">
                <a:tc>
                  <a:txBody>
                    <a:bodyPr wrap="square"/>
                    <a:lstStyle/>
                    <a:p>
                      <a:pPr algn="l">
                        <a:spcAft>
                          <a:spcPts val="0"/>
                        </a:spcAft>
                      </a:pPr>
                      <a:r>
                        <a:rPr sz="1200" b="0" i="0">
                          <a:solidFill>
                            <a:srgbClr val="222222"/>
                          </a:solidFill>
                          <a:latin typeface="Calibri"/>
                        </a:rPr>
                        <a:t>G5 slot reductions</a:t>
                      </a:r>
                    </a:p>
                  </a:txBody>
                  <a:tcPr marL="54864" marR="54864" marT="27432" marB="27432" anchor="ctr">
                    <a:solidFill>
                      <a:srgbClr val="FBEAEA"/>
                    </a:solidFill>
                  </a:tcPr>
                </a:tc>
                <a:tc>
                  <a:txBody>
                    <a:bodyPr wrap="square"/>
                    <a:lstStyle/>
                    <a:p>
                      <a:pPr algn="l">
                        <a:spcAft>
                          <a:spcPts val="0"/>
                        </a:spcAft>
                      </a:pPr>
                      <a:r>
                        <a:rPr sz="1200" b="0" i="0">
                          <a:solidFill>
                            <a:srgbClr val="222222"/>
                          </a:solidFill>
                          <a:latin typeface="Calibri"/>
                        </a:rPr>
                        <a:t>weights on the simplex or uniform shadow prices give Lambda &lt; 1 and a lower latency but violate the true limits in 55-85 % of the steps</a:t>
                      </a:r>
                    </a:p>
                  </a:txBody>
                  <a:tcPr marL="54864" marR="54864" marT="27432" marB="27432" anchor="ctr">
                    <a:solidFill>
                      <a:srgbClr val="FBEAEA"/>
                    </a:solidFill>
                  </a:tcPr>
                </a:tc>
                <a:tc>
                  <a:txBody>
                    <a:bodyPr wrap="square"/>
                    <a:lstStyle/>
                    <a:p>
                      <a:pPr algn="l">
                        <a:spcAft>
                          <a:spcPts val="0"/>
                        </a:spcAft>
                      </a:pPr>
                      <a:r>
                        <a:rPr sz="1200" b="0" i="0">
                          <a:solidFill>
                            <a:srgbClr val="222222"/>
                          </a:solidFill>
                          <a:latin typeface="Calibri"/>
                        </a:rPr>
                        <a:t>UNSAFE REDUCTIONS EXIST</a:t>
                      </a:r>
                    </a:p>
                  </a:txBody>
                  <a:tcPr marL="54864" marR="54864" marT="27432" marB="27432" anchor="ctr">
                    <a:solidFill>
                      <a:srgbClr val="FBEAE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Where Randomized Online-DRL LOSES</a:t>
            </a:r>
          </a:p>
          <a:p>
            <a:pPr algn="l">
              <a:spcAft>
                <a:spcPts val="600"/>
              </a:spcAft>
            </a:pPr>
            <a:r>
              <a:rPr sz="1400" b="0" i="1">
                <a:solidFill>
                  <a:srgbClr val="595959"/>
                </a:solidFill>
                <a:latin typeface="Calibri"/>
              </a:rPr>
              <a:t>the honest list</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13</a:t>
            </a:r>
          </a:p>
        </p:txBody>
      </p:sp>
      <p:sp>
        <p:nvSpPr>
          <p:cNvPr id="5" name="TextBox 4"/>
          <p:cNvSpPr txBox="1"/>
          <p:nvPr/>
        </p:nvSpPr>
        <p:spPr>
          <a:xfrm>
            <a:off x="640080" y="1325880"/>
            <a:ext cx="5760720" cy="4206240"/>
          </a:xfrm>
          <a:prstGeom prst="rect">
            <a:avLst/>
          </a:prstGeom>
          <a:noFill/>
        </p:spPr>
        <p:txBody>
          <a:bodyPr wrap="square">
            <a:spAutoFit/>
          </a:bodyPr>
          <a:lstStyle/>
          <a:p>
            <a:pPr algn="l">
              <a:spcAft>
                <a:spcPts val="1000"/>
              </a:spcAft>
            </a:pPr>
            <a:r>
              <a:rPr sz="1600" b="0" i="0">
                <a:solidFill>
                  <a:srgbClr val="222222"/>
                </a:solidFill>
                <a:latin typeface="Calibri"/>
              </a:rPr>
              <a:t>•  Short traces.  T = 120: 1.279 +- 0.138 vs 1.145 (Online-DRL) and 1.102 (R3 only).  The fractional state is not learned yet.</a:t>
            </a:r>
          </a:p>
          <a:p>
            <a:pPr algn="l">
              <a:spcAft>
                <a:spcPts val="1000"/>
              </a:spcAft>
            </a:pPr>
            <a:r>
              <a:rPr sz="1600" b="0" i="0">
                <a:solidFill>
                  <a:srgbClr val="222222"/>
                </a:solidFill>
                <a:latin typeface="Calibri"/>
              </a:rPr>
              <a:t>•  Computing time.  440-1 665 us per request against 13-26 us: every request does an O(N) projection, an O(K*N) rounding and an O(N) repair.  About 35 ms of CPU per second at 1 000 requests/s.</a:t>
            </a:r>
          </a:p>
          <a:p>
            <a:pPr algn="l">
              <a:spcAft>
                <a:spcPts val="1000"/>
              </a:spcAft>
            </a:pPr>
            <a:r>
              <a:rPr sz="1600" b="0" i="0">
                <a:solidFill>
                  <a:srgbClr val="222222"/>
                </a:solidFill>
                <a:latin typeface="Calibri"/>
              </a:rPr>
              <a:t>•  The literal form of goal G3.  The bound only holds for the surrogate loss; the realized-latency version is violated by a factor 3.7-9.6.</a:t>
            </a:r>
          </a:p>
          <a:p>
            <a:pPr algn="l">
              <a:spcAft>
                <a:spcPts val="0"/>
              </a:spcAft>
            </a:pPr>
            <a:r>
              <a:rPr sz="1600" b="0" i="0">
                <a:solidFill>
                  <a:srgbClr val="222222"/>
                </a:solidFill>
                <a:latin typeface="Calibri"/>
              </a:rPr>
              <a:t>•  It never loses on resource feasibility: the repair step makes the constraints exact (0 % violations everywhere).</a:t>
            </a:r>
          </a:p>
        </p:txBody>
      </p:sp>
      <p:pic>
        <p:nvPicPr>
          <p:cNvPr id="6" name="Picture 5" descr="slides_runtime.png"/>
          <p:cNvPicPr>
            <a:picLocks noChangeAspect="1"/>
          </p:cNvPicPr>
          <p:nvPr/>
        </p:nvPicPr>
        <p:blipFill>
          <a:blip r:embed="rId2"/>
          <a:stretch>
            <a:fillRect/>
          </a:stretch>
        </p:blipFill>
        <p:spPr>
          <a:xfrm>
            <a:off x="6583680" y="1371600"/>
            <a:ext cx="5120640" cy="17068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Terminology 1 - 'surrogate only'</a:t>
            </a:r>
          </a:p>
          <a:p>
            <a:pPr algn="l">
              <a:spcAft>
                <a:spcPts val="600"/>
              </a:spcAft>
            </a:pPr>
            <a:r>
              <a:rPr sz="1400" b="0" i="1">
                <a:solidFill>
                  <a:srgbClr val="595959"/>
                </a:solidFill>
                <a:latin typeface="Calibri"/>
              </a:rPr>
              <a:t>goal G3 read carefully</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14</a:t>
            </a:r>
          </a:p>
        </p:txBody>
      </p:sp>
      <p:sp>
        <p:nvSpPr>
          <p:cNvPr id="5" name="TextBox 4"/>
          <p:cNvSpPr txBox="1"/>
          <p:nvPr/>
        </p:nvSpPr>
        <p:spPr>
          <a:xfrm>
            <a:off x="640080" y="1280160"/>
            <a:ext cx="6035040" cy="4754880"/>
          </a:xfrm>
          <a:prstGeom prst="rect">
            <a:avLst/>
          </a:prstGeom>
          <a:noFill/>
        </p:spPr>
        <p:txBody>
          <a:bodyPr wrap="square">
            <a:spAutoFit/>
          </a:bodyPr>
          <a:lstStyle/>
          <a:p>
            <a:pPr algn="l">
              <a:spcAft>
                <a:spcPts val="800"/>
              </a:spcAft>
            </a:pPr>
            <a:r>
              <a:rPr sz="1500" b="0" i="0">
                <a:solidFill>
                  <a:srgbClr val="222222"/>
                </a:solidFill>
                <a:latin typeface="Calibri"/>
              </a:rPr>
              <a:t>•  The regret we would LIKE to bound uses the realized latency:  sum_t l - min_P sum_t l 1[n_t not in P].</a:t>
            </a:r>
          </a:p>
          <a:p>
            <a:pPr algn="l">
              <a:spcAft>
                <a:spcPts val="800"/>
              </a:spcAft>
            </a:pPr>
            <a:r>
              <a:rPr sz="1500" b="0" i="0">
                <a:solidFill>
                  <a:srgbClr val="222222"/>
                </a:solidFill>
                <a:latin typeface="Calibri"/>
              </a:rPr>
              <a:t>•  But that expression is not a function of p alone: whether a request is a hit, a delayed hit or a forward also depends on q_t (a download in flight) and dm_t (its remaining time), which are decided by the discrete download dynamics.</a:t>
            </a:r>
          </a:p>
          <a:p>
            <a:pPr algn="l">
              <a:spcAft>
                <a:spcPts val="800"/>
              </a:spcAft>
            </a:pPr>
            <a:r>
              <a:rPr sz="1500" b="0" i="0">
                <a:solidFill>
                  <a:srgbClr val="222222"/>
                </a:solidFill>
                <a:latin typeface="Calibri"/>
              </a:rPr>
              <a:t>•  The proposal therefore uses a SURROGATE loss that IS a function of p:  F_t(P) = (1 - p_nt) * g_t,  with g_t = (1-q_t) l + q_t min(l, dm_t)  - 'a request that is not covered by the fractional cache costs g_t'.</a:t>
            </a:r>
          </a:p>
          <a:p>
            <a:pPr algn="l">
              <a:spcAft>
                <a:spcPts val="800"/>
              </a:spcAft>
            </a:pPr>
            <a:r>
              <a:rPr sz="1500" b="0" i="0">
                <a:solidFill>
                  <a:srgbClr val="222222"/>
                </a:solidFill>
                <a:latin typeface="Calibri"/>
              </a:rPr>
              <a:t>•  The bound sqrt(N) l_max sqrt(T) is the regret of the SURROGATE, because D_vec has diameter &lt;= sqrt(N) and eta = sqrt(N)/(l_max sqrt(T)).</a:t>
            </a:r>
          </a:p>
          <a:p>
            <a:pPr algn="l">
              <a:spcAft>
                <a:spcPts val="800"/>
              </a:spcAft>
            </a:pPr>
            <a:r>
              <a:rPr sz="1500" b="0" i="0">
                <a:solidFill>
                  <a:srgbClr val="222222"/>
                </a:solidFill>
                <a:latin typeface="Calibri"/>
              </a:rPr>
              <a:t>•  Why the literal version fails: the fractional comparator may cache a service INSTANTLY, while the real system must first DOWNLOAD it - and the comparator is not charged for those downloads.</a:t>
            </a:r>
          </a:p>
          <a:p>
            <a:pPr algn="l">
              <a:spcAft>
                <a:spcPts val="0"/>
              </a:spcAft>
            </a:pPr>
            <a:r>
              <a:rPr sz="1500" b="0" i="0">
                <a:solidFill>
                  <a:srgbClr val="222222"/>
                </a:solidFill>
                <a:latin typeface="Calibri"/>
              </a:rPr>
              <a:t>•  Fixes: define G3 on the surrogate loss, charge the comparator for its downloads, or compare against a download-aware comparator.</a:t>
            </a:r>
          </a:p>
        </p:txBody>
      </p:sp>
      <p:pic>
        <p:nvPicPr>
          <p:cNvPr id="6" name="Picture 5" descr="slides_regret.png"/>
          <p:cNvPicPr>
            <a:picLocks noChangeAspect="1"/>
          </p:cNvPicPr>
          <p:nvPr/>
        </p:nvPicPr>
        <p:blipFill>
          <a:blip r:embed="rId2"/>
          <a:stretch>
            <a:fillRect/>
          </a:stretch>
        </p:blipFill>
        <p:spPr>
          <a:xfrm>
            <a:off x="6949440" y="1463040"/>
            <a:ext cx="4754880" cy="2377440"/>
          </a:xfrm>
          <a:prstGeom prst="rect">
            <a:avLst/>
          </a:prstGeom>
        </p:spPr>
      </p:pic>
      <p:sp>
        <p:nvSpPr>
          <p:cNvPr id="7" name="Rectangle 6"/>
          <p:cNvSpPr/>
          <p:nvPr/>
        </p:nvSpPr>
        <p:spPr>
          <a:xfrm>
            <a:off x="6949440" y="5120640"/>
            <a:ext cx="4754880" cy="731520"/>
          </a:xfrm>
          <a:prstGeom prst="rect">
            <a:avLst/>
          </a:prstGeom>
          <a:solidFill>
            <a:srgbClr val="EEF2F8"/>
          </a:solidFill>
          <a:ln w="15875">
            <a:solidFill>
              <a:srgbClr val="1F3B7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82296"/>
          <a:lstStyle/>
          <a:p>
            <a:pPr algn="l">
              <a:spcAft>
                <a:spcPts val="300"/>
              </a:spcAft>
            </a:pPr>
            <a:r>
              <a:rPr sz="1400" b="1" i="0">
                <a:solidFill>
                  <a:srgbClr val="1F3B73"/>
                </a:solidFill>
                <a:latin typeface="Calibri"/>
              </a:rPr>
              <a:t>'Surrogate only' means:</a:t>
            </a:r>
          </a:p>
          <a:p>
            <a:pPr algn="l">
              <a:spcAft>
                <a:spcPts val="600"/>
              </a:spcAft>
            </a:pPr>
            <a:r>
              <a:rPr sz="1300" b="0" i="0">
                <a:solidFill>
                  <a:srgbClr val="222222"/>
                </a:solidFill>
                <a:latin typeface="Calibri"/>
              </a:rPr>
              <a:t>the bound holds for the surrogate and only for the surrogate.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Terminology 2 - 'unsafe reduction'</a:t>
            </a:r>
          </a:p>
          <a:p>
            <a:pPr algn="l">
              <a:spcAft>
                <a:spcPts val="600"/>
              </a:spcAft>
            </a:pPr>
            <a:r>
              <a:rPr sz="1400" b="0" i="1">
                <a:solidFill>
                  <a:srgbClr val="595959"/>
                </a:solidFill>
                <a:latin typeface="Calibri"/>
              </a:rPr>
              <a:t>goal G5: slot reductions</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15</a:t>
            </a:r>
          </a:p>
        </p:txBody>
      </p:sp>
      <p:sp>
        <p:nvSpPr>
          <p:cNvPr id="5" name="TextBox 4"/>
          <p:cNvSpPr txBox="1"/>
          <p:nvPr/>
        </p:nvSpPr>
        <p:spPr>
          <a:xfrm>
            <a:off x="640080" y="1280160"/>
            <a:ext cx="6035040" cy="4754880"/>
          </a:xfrm>
          <a:prstGeom prst="rect">
            <a:avLst/>
          </a:prstGeom>
          <a:noFill/>
        </p:spPr>
        <p:txBody>
          <a:bodyPr wrap="square">
            <a:spAutoFit/>
          </a:bodyPr>
          <a:lstStyle/>
          <a:p>
            <a:pPr algn="l">
              <a:spcAft>
                <a:spcPts val="700"/>
              </a:spcAft>
            </a:pPr>
            <a:r>
              <a:rPr sz="1500" b="0" i="0">
                <a:solidFill>
                  <a:srgbClr val="222222"/>
                </a:solidFill>
                <a:latin typeface="Calibri"/>
              </a:rPr>
              <a:t>•  A slot reduction replaces the three resource constraints by ONE scalar constraint sum_n phi(a_n) p_n &lt;= 1, with a weight function phi (dominant resource, a linear or l_p mix, shadow prices, AHP or entropy weights).</a:t>
            </a:r>
          </a:p>
          <a:p>
            <a:pPr algn="l">
              <a:spcAft>
                <a:spcPts val="700"/>
              </a:spcAft>
            </a:pPr>
            <a:r>
              <a:rPr sz="1500" b="0" i="0">
                <a:solidFill>
                  <a:srgbClr val="222222"/>
                </a:solidFill>
                <a:latin typeface="Calibri"/>
              </a:rPr>
              <a:t>•  Lambda_phi = max_n phi(a_n)/max_r a_n,r  (eq. 18) measures the damage: Lambda &lt; 1 means the reduction charges a service LESS than its true bottleneck demand, i.e. the reduced constraint is WEAKER than the real one.</a:t>
            </a:r>
          </a:p>
          <a:p>
            <a:pPr algn="l">
              <a:spcAft>
                <a:spcPts val="700"/>
              </a:spcAft>
            </a:pPr>
            <a:r>
              <a:rPr sz="1500" b="0" i="0">
                <a:solidFill>
                  <a:srgbClr val="222222"/>
                </a:solidFill>
                <a:latin typeface="Calibri"/>
              </a:rPr>
              <a:t>•  Such a reduction is called UNSAFE: the cache it produces can exceed the real CPU/RAM/disk limits.</a:t>
            </a:r>
          </a:p>
          <a:p>
            <a:pPr algn="l">
              <a:spcAft>
                <a:spcPts val="700"/>
              </a:spcAft>
            </a:pPr>
            <a:r>
              <a:rPr sz="1500" b="0" i="0">
                <a:solidFill>
                  <a:srgbClr val="222222"/>
                </a:solidFill>
                <a:latin typeface="Calibri"/>
              </a:rPr>
              <a:t>•  The proposal's own warning: with weights on the simplex (sum_r alpha_r = 1) a disk-only service looks cheap; the reduction is safe only if alpha_r &gt;= 1 for every r, at the price of wasting up to a factor R of the capacity.</a:t>
            </a:r>
          </a:p>
          <a:p>
            <a:pPr algn="l">
              <a:spcAft>
                <a:spcPts val="0"/>
              </a:spcAft>
            </a:pPr>
            <a:r>
              <a:rPr sz="1500" b="0" i="0">
                <a:solidFill>
                  <a:srgbClr val="222222"/>
                </a:solidFill>
                <a:latin typeface="Calibri"/>
              </a:rPr>
              <a:t>•  Measured: entropy, AHP and uniform shadow prices all have Lambda &lt; 1 and a LOWER latency - and all three violate the true limits in 55-85 % of the steps (up to 2.37x the capacity).  The safe reductions never violate, but waste capacity (linear alpha = 1: Lambda = 2.52, +71 % latency).</a:t>
            </a:r>
          </a:p>
        </p:txBody>
      </p:sp>
      <p:pic>
        <p:nvPicPr>
          <p:cNvPr id="6" name="Picture 5" descr="slides_unsafe.png"/>
          <p:cNvPicPr>
            <a:picLocks noChangeAspect="1"/>
          </p:cNvPicPr>
          <p:nvPr/>
        </p:nvPicPr>
        <p:blipFill>
          <a:blip r:embed="rId2"/>
          <a:stretch>
            <a:fillRect/>
          </a:stretch>
        </p:blipFill>
        <p:spPr>
          <a:xfrm>
            <a:off x="6858000" y="1371600"/>
            <a:ext cx="4937760" cy="1645920"/>
          </a:xfrm>
          <a:prstGeom prst="rect">
            <a:avLst/>
          </a:prstGeom>
        </p:spPr>
      </p:pic>
      <p:sp>
        <p:nvSpPr>
          <p:cNvPr id="7" name="Rectangle 6"/>
          <p:cNvSpPr/>
          <p:nvPr/>
        </p:nvSpPr>
        <p:spPr>
          <a:xfrm>
            <a:off x="6858000" y="5257800"/>
            <a:ext cx="4937760" cy="731520"/>
          </a:xfrm>
          <a:prstGeom prst="rect">
            <a:avLst/>
          </a:prstGeom>
          <a:solidFill>
            <a:srgbClr val="EEF2F8"/>
          </a:solidFill>
          <a:ln w="15875">
            <a:solidFill>
              <a:srgbClr val="1F3B7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82296"/>
          <a:lstStyle/>
          <a:p>
            <a:pPr algn="l">
              <a:spcAft>
                <a:spcPts val="300"/>
              </a:spcAft>
            </a:pPr>
            <a:r>
              <a:rPr sz="1350" b="1" i="0">
                <a:solidFill>
                  <a:srgbClr val="1F3B73"/>
                </a:solidFill>
                <a:latin typeface="Calibri"/>
              </a:rPr>
              <a:t>'Unsafe reduction' means:</a:t>
            </a:r>
          </a:p>
          <a:p>
            <a:pPr algn="l">
              <a:spcAft>
                <a:spcPts val="600"/>
              </a:spcAft>
            </a:pPr>
            <a:r>
              <a:rPr sz="1250" b="0" i="0">
                <a:solidFill>
                  <a:srgbClr val="222222"/>
                </a:solidFill>
                <a:latin typeface="Calibri"/>
              </a:rPr>
              <a:t>a slot reduction is not a free simplification - the exact vector formulation dominates every safe reduction.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Summary</a:t>
            </a:r>
          </a:p>
          <a:p>
            <a:pPr algn="l">
              <a:spcAft>
                <a:spcPts val="600"/>
              </a:spcAft>
            </a:pPr>
            <a:r>
              <a:rPr sz="1400" b="0" i="1">
                <a:solidFill>
                  <a:srgbClr val="595959"/>
                </a:solidFill>
                <a:latin typeface="Calibri"/>
              </a:rPr>
              <a:t>the verdict in one slide</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16</a:t>
            </a:r>
          </a:p>
        </p:txBody>
      </p:sp>
      <p:graphicFrame>
        <p:nvGraphicFramePr>
          <p:cNvPr id="5" name="Table 4"/>
          <p:cNvGraphicFramePr>
            <a:graphicFrameLocks noGrp="1"/>
          </p:cNvGraphicFramePr>
          <p:nvPr/>
        </p:nvGraphicFramePr>
        <p:xfrm>
          <a:off x="640080" y="1371600"/>
          <a:ext cx="10881360" cy="3566160"/>
        </p:xfrm>
        <a:graphic>
          <a:graphicData uri="http://schemas.openxmlformats.org/drawingml/2006/table">
            <a:tbl>
              <a:tblPr firstRow="1" bandRow="1">
                <a:tableStyleId>{5C22544A-7EE6-4342-B048-85BDC9FD1C3A}</a:tableStyleId>
              </a:tblPr>
              <a:tblGrid>
                <a:gridCol w="3108960"/>
                <a:gridCol w="2377440"/>
                <a:gridCol w="3017520"/>
                <a:gridCol w="2377440"/>
              </a:tblGrid>
              <a:tr h="445770">
                <a:tc>
                  <a:txBody>
                    <a:bodyPr wrap="square"/>
                    <a:lstStyle/>
                    <a:p>
                      <a:pPr algn="l">
                        <a:spcAft>
                          <a:spcPts val="0"/>
                        </a:spcAft>
                      </a:pPr>
                      <a:r>
                        <a:rPr sz="1250" b="1" i="0">
                          <a:solidFill>
                            <a:srgbClr val="FFFFFF"/>
                          </a:solidFill>
                          <a:latin typeface="Calibri"/>
                        </a:rPr>
                        <a:t>regime</a:t>
                      </a:r>
                    </a:p>
                  </a:txBody>
                  <a:tcPr marL="54864" marR="54864" marT="27432" marB="27432" anchor="ctr">
                    <a:solidFill>
                      <a:srgbClr val="1F3B73"/>
                    </a:solidFill>
                  </a:tcPr>
                </a:tc>
                <a:tc>
                  <a:txBody>
                    <a:bodyPr wrap="square"/>
                    <a:lstStyle/>
                    <a:p>
                      <a:pPr algn="l">
                        <a:spcAft>
                          <a:spcPts val="0"/>
                        </a:spcAft>
                      </a:pPr>
                      <a:r>
                        <a:rPr sz="1250" b="1" i="0">
                          <a:solidFill>
                            <a:srgbClr val="FFFFFF"/>
                          </a:solidFill>
                          <a:latin typeface="Calibri"/>
                        </a:rPr>
                        <a:t>Online-DRL</a:t>
                      </a:r>
                    </a:p>
                  </a:txBody>
                  <a:tcPr marL="54864" marR="54864" marT="27432" marB="27432" anchor="ctr">
                    <a:solidFill>
                      <a:srgbClr val="1F3B73"/>
                    </a:solidFill>
                  </a:tcPr>
                </a:tc>
                <a:tc>
                  <a:txBody>
                    <a:bodyPr wrap="square"/>
                    <a:lstStyle/>
                    <a:p>
                      <a:pPr algn="l">
                        <a:spcAft>
                          <a:spcPts val="0"/>
                        </a:spcAft>
                      </a:pPr>
                      <a:r>
                        <a:rPr sz="1250" b="1" i="0">
                          <a:solidFill>
                            <a:srgbClr val="FFFFFF"/>
                          </a:solidFill>
                          <a:latin typeface="Calibri"/>
                        </a:rPr>
                        <a:t>Randomized DRL</a:t>
                      </a:r>
                    </a:p>
                  </a:txBody>
                  <a:tcPr marL="54864" marR="54864" marT="27432" marB="27432" anchor="ctr">
                    <a:solidFill>
                      <a:srgbClr val="1F3B73"/>
                    </a:solidFill>
                  </a:tcPr>
                </a:tc>
                <a:tc>
                  <a:txBody>
                    <a:bodyPr wrap="square"/>
                    <a:lstStyle/>
                    <a:p>
                      <a:pPr algn="l">
                        <a:spcAft>
                          <a:spcPts val="0"/>
                        </a:spcAft>
                      </a:pPr>
                      <a:r>
                        <a:rPr sz="1250" b="1" i="0">
                          <a:solidFill>
                            <a:srgbClr val="FFFFFF"/>
                          </a:solidFill>
                          <a:latin typeface="Calibri"/>
                        </a:rPr>
                        <a:t>verdict</a:t>
                      </a:r>
                    </a:p>
                  </a:txBody>
                  <a:tcPr marL="54864" marR="54864" marT="27432" marB="27432" anchor="ctr">
                    <a:solidFill>
                      <a:srgbClr val="1F3B73"/>
                    </a:solidFill>
                  </a:tcPr>
                </a:tc>
              </a:tr>
              <a:tr h="445770">
                <a:tc>
                  <a:txBody>
                    <a:bodyPr wrap="square"/>
                    <a:lstStyle/>
                    <a:p>
                      <a:pPr algn="l">
                        <a:spcAft>
                          <a:spcPts val="0"/>
                        </a:spcAft>
                      </a:pPr>
                      <a:r>
                        <a:rPr sz="1250" b="0" i="0">
                          <a:solidFill>
                            <a:srgbClr val="222222"/>
                          </a:solidFill>
                          <a:latin typeface="Calibri"/>
                        </a:rPr>
                        <a:t>adversarial patterns, large caches</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gamma = 2k (linear)</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gamma ~ 3 (flat)</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randomized WINS</a:t>
                      </a:r>
                    </a:p>
                  </a:txBody>
                  <a:tcPr marL="54864" marR="54864" marT="27432" marB="27432" anchor="ctr">
                    <a:solidFill>
                      <a:srgbClr val="FFFFFF"/>
                    </a:solidFill>
                  </a:tcPr>
                </a:tc>
              </a:tr>
              <a:tr h="445770">
                <a:tc>
                  <a:txBody>
                    <a:bodyPr wrap="square"/>
                    <a:lstStyle/>
                    <a:p>
                      <a:pPr algn="l">
                        <a:spcAft>
                          <a:spcPts val="0"/>
                        </a:spcAft>
                      </a:pPr>
                      <a:r>
                        <a:rPr sz="1250" b="0" i="0">
                          <a:solidFill>
                            <a:srgbClr val="222222"/>
                          </a:solidFill>
                          <a:latin typeface="Calibri"/>
                        </a:rPr>
                        <a:t>ordinary stationary traffic</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1.443, 3x more cost</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1.430, 3x less cost</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randomized EQUALIZES and saves cost</a:t>
                      </a:r>
                    </a:p>
                  </a:txBody>
                  <a:tcPr marL="54864" marR="54864" marT="27432" marB="27432" anchor="ctr">
                    <a:solidFill>
                      <a:srgbClr val="EEF2F8"/>
                    </a:solidFill>
                  </a:tcPr>
                </a:tc>
              </a:tr>
              <a:tr h="445770">
                <a:tc>
                  <a:txBody>
                    <a:bodyPr wrap="square"/>
                    <a:lstStyle/>
                    <a:p>
                      <a:pPr algn="l">
                        <a:spcAft>
                          <a:spcPts val="0"/>
                        </a:spcAft>
                      </a:pPr>
                      <a:r>
                        <a:rPr sz="1250" b="0" i="0">
                          <a:solidFill>
                            <a:srgbClr val="222222"/>
                          </a:solidFill>
                          <a:latin typeface="Calibri"/>
                        </a:rPr>
                        <a:t>multi-resource workload</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136 226 latency</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87 333 latency (-36 %)</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randomized WINS</a:t>
                      </a:r>
                    </a:p>
                  </a:txBody>
                  <a:tcPr marL="54864" marR="54864" marT="27432" marB="27432" anchor="ctr">
                    <a:solidFill>
                      <a:srgbClr val="FFFFFF"/>
                    </a:solidFill>
                  </a:tcPr>
                </a:tc>
              </a:tr>
              <a:tr h="445770">
                <a:tc>
                  <a:txBody>
                    <a:bodyPr wrap="square"/>
                    <a:lstStyle/>
                    <a:p>
                      <a:pPr algn="l">
                        <a:spcAft>
                          <a:spcPts val="0"/>
                        </a:spcAft>
                      </a:pPr>
                      <a:r>
                        <a:rPr sz="1250" b="0" i="0">
                          <a:solidFill>
                            <a:srgbClr val="222222"/>
                          </a:solidFill>
                          <a:latin typeface="Calibri"/>
                        </a:rPr>
                        <a:t>short traces</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1.145</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1.279</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randomized LOSES (warm-up)</a:t>
                      </a:r>
                    </a:p>
                  </a:txBody>
                  <a:tcPr marL="54864" marR="54864" marT="27432" marB="27432" anchor="ctr">
                    <a:solidFill>
                      <a:srgbClr val="EEF2F8"/>
                    </a:solidFill>
                  </a:tcPr>
                </a:tc>
              </a:tr>
              <a:tr h="445770">
                <a:tc>
                  <a:txBody>
                    <a:bodyPr wrap="square"/>
                    <a:lstStyle/>
                    <a:p>
                      <a:pPr algn="l">
                        <a:spcAft>
                          <a:spcPts val="0"/>
                        </a:spcAft>
                      </a:pPr>
                      <a:r>
                        <a:rPr sz="1250" b="0" i="0">
                          <a:solidFill>
                            <a:srgbClr val="222222"/>
                          </a:solidFill>
                          <a:latin typeface="Calibri"/>
                        </a:rPr>
                        <a:t>download budget</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clipped, -11.6 % latency</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respected in expectation and per seed</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randomized WINS</a:t>
                      </a:r>
                    </a:p>
                  </a:txBody>
                  <a:tcPr marL="54864" marR="54864" marT="27432" marB="27432" anchor="ctr">
                    <a:solidFill>
                      <a:srgbClr val="FFFFFF"/>
                    </a:solidFill>
                  </a:tcPr>
                </a:tc>
              </a:tr>
              <a:tr h="445770">
                <a:tc>
                  <a:txBody>
                    <a:bodyPr wrap="square"/>
                    <a:lstStyle/>
                    <a:p>
                      <a:pPr algn="l">
                        <a:spcAft>
                          <a:spcPts val="0"/>
                        </a:spcAft>
                      </a:pPr>
                      <a:r>
                        <a:rPr sz="1250" b="0" i="0">
                          <a:solidFill>
                            <a:srgbClr val="222222"/>
                          </a:solidFill>
                          <a:latin typeface="Calibri"/>
                        </a:rPr>
                        <a:t>computing time</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13-26 us/req</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440-1 665 us/req</a:t>
                      </a:r>
                    </a:p>
                  </a:txBody>
                  <a:tcPr marL="54864" marR="54864" marT="27432" marB="27432" anchor="ctr">
                    <a:solidFill>
                      <a:srgbClr val="EEF2F8"/>
                    </a:solidFill>
                  </a:tcPr>
                </a:tc>
                <a:tc>
                  <a:txBody>
                    <a:bodyPr wrap="square"/>
                    <a:lstStyle/>
                    <a:p>
                      <a:pPr algn="l">
                        <a:spcAft>
                          <a:spcPts val="0"/>
                        </a:spcAft>
                      </a:pPr>
                      <a:r>
                        <a:rPr sz="1250" b="0" i="0">
                          <a:solidFill>
                            <a:srgbClr val="222222"/>
                          </a:solidFill>
                          <a:latin typeface="Calibri"/>
                        </a:rPr>
                        <a:t>randomized LOSES (25-70x)</a:t>
                      </a:r>
                    </a:p>
                  </a:txBody>
                  <a:tcPr marL="54864" marR="54864" marT="27432" marB="27432" anchor="ctr">
                    <a:solidFill>
                      <a:srgbClr val="EEF2F8"/>
                    </a:solidFill>
                  </a:tcPr>
                </a:tc>
              </a:tr>
              <a:tr h="445770">
                <a:tc>
                  <a:txBody>
                    <a:bodyPr wrap="square"/>
                    <a:lstStyle/>
                    <a:p>
                      <a:pPr algn="l">
                        <a:spcAft>
                          <a:spcPts val="0"/>
                        </a:spcAft>
                      </a:pPr>
                      <a:r>
                        <a:rPr sz="1250" b="0" i="0">
                          <a:solidFill>
                            <a:srgbClr val="222222"/>
                          </a:solidFill>
                          <a:latin typeface="Calibri"/>
                        </a:rPr>
                        <a:t>goal G3</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surrogate only</a:t>
                      </a:r>
                    </a:p>
                  </a:txBody>
                  <a:tcPr marL="54864" marR="54864" marT="27432" marB="27432" anchor="ctr">
                    <a:solidFill>
                      <a:srgbClr val="FFFFFF"/>
                    </a:solidFill>
                  </a:tcPr>
                </a:tc>
                <a:tc>
                  <a:txBody>
                    <a:bodyPr wrap="square"/>
                    <a:lstStyle/>
                    <a:p>
                      <a:pPr algn="l">
                        <a:spcAft>
                          <a:spcPts val="0"/>
                        </a:spcAft>
                      </a:pPr>
                      <a:r>
                        <a:rPr sz="1250" b="0" i="0">
                          <a:solidFill>
                            <a:srgbClr val="222222"/>
                          </a:solidFill>
                          <a:latin typeface="Calibri"/>
                        </a:rPr>
                        <a:t>partial</a:t>
                      </a:r>
                    </a:p>
                  </a:txBody>
                  <a:tcPr marL="54864" marR="54864" marT="27432" marB="27432" anchor="ctr">
                    <a:solidFill>
                      <a:srgbClr val="FFFFFF"/>
                    </a:solidFill>
                  </a:tcPr>
                </a:tc>
              </a:tr>
            </a:tbl>
          </a:graphicData>
        </a:graphic>
      </p:graphicFrame>
      <p:sp>
        <p:nvSpPr>
          <p:cNvPr id="6" name="Rectangle 5"/>
          <p:cNvSpPr/>
          <p:nvPr/>
        </p:nvSpPr>
        <p:spPr>
          <a:xfrm>
            <a:off x="640080" y="5120640"/>
            <a:ext cx="10881360" cy="1051560"/>
          </a:xfrm>
          <a:prstGeom prst="rect">
            <a:avLst/>
          </a:prstGeom>
          <a:solidFill>
            <a:srgbClr val="EEF2F8"/>
          </a:solidFill>
          <a:ln w="15875">
            <a:solidFill>
              <a:srgbClr val="1F3B7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82296"/>
          <a:lstStyle/>
          <a:p>
            <a:pPr algn="l">
              <a:spcAft>
                <a:spcPts val="300"/>
              </a:spcAft>
            </a:pPr>
            <a:r>
              <a:rPr sz="1400" b="1" i="0">
                <a:solidFill>
                  <a:srgbClr val="1F3B73"/>
                </a:solidFill>
                <a:latin typeface="Calibri"/>
              </a:rPr>
              <a:t>Bottom line:</a:t>
            </a:r>
          </a:p>
          <a:p>
            <a:pPr algn="l">
              <a:spcAft>
                <a:spcPts val="600"/>
              </a:spcAft>
            </a:pPr>
            <a:r>
              <a:rPr sz="1300" b="0" i="0">
                <a:solidFill>
                  <a:srgbClr val="222222"/>
                </a:solidFill>
                <a:latin typeface="Calibri"/>
              </a:rPr>
              <a:t>strictly better in the worst case, equal in the average case, slightly worse during the warm-up, and 25-70x more expensive per request.  Still open: the real Google / SHARCNet traces, a non-stationary resource mix, and an adversarial family designed against the randomized algorithm (to separate O(log k) from 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822960"/>
          </a:xfrm>
          <a:prstGeom prst="rect">
            <a:avLst/>
          </a:prstGeom>
          <a:noFill/>
        </p:spPr>
        <p:txBody>
          <a:bodyPr wrap="square">
            <a:spAutoFit/>
          </a:bodyPr>
          <a:lstStyle/>
          <a:p>
            <a:pPr algn="l">
              <a:spcAft>
                <a:spcPts val="200"/>
              </a:spcAft>
            </a:pPr>
            <a:r>
              <a:rPr sz="2800" b="1" i="0">
                <a:solidFill>
                  <a:srgbClr val="1F3B73"/>
                </a:solidFill>
                <a:latin typeface="Calibri"/>
              </a:rPr>
              <a:t>How to reproduce</a:t>
            </a:r>
          </a:p>
          <a:p>
            <a:pPr algn="l">
              <a:spcAft>
                <a:spcPts val="600"/>
              </a:spcAft>
            </a:pPr>
            <a:r>
              <a:rPr sz="1400" b="0" i="1">
                <a:solidFill>
                  <a:srgbClr val="595959"/>
                </a:solidFill>
                <a:latin typeface="Calibri"/>
              </a:rPr>
              <a:t>every number in this deck</a:t>
            </a:r>
          </a:p>
        </p:txBody>
      </p:sp>
      <p:sp>
        <p:nvSpPr>
          <p:cNvPr id="4" name="TextBox 3"/>
          <p:cNvSpPr txBox="1"/>
          <p:nvPr/>
        </p:nvSpPr>
        <p:spPr>
          <a:xfrm>
            <a:off x="11155680" y="6355080"/>
            <a:ext cx="822960" cy="365760"/>
          </a:xfrm>
          <a:prstGeom prst="rect">
            <a:avLst/>
          </a:prstGeom>
          <a:noFill/>
        </p:spPr>
        <p:txBody>
          <a:bodyPr wrap="square">
            <a:spAutoFit/>
          </a:bodyPr>
          <a:lstStyle/>
          <a:p>
            <a:pPr algn="r">
              <a:spcAft>
                <a:spcPts val="600"/>
              </a:spcAft>
            </a:pPr>
            <a:r>
              <a:rPr sz="1200" b="0" i="0">
                <a:solidFill>
                  <a:srgbClr val="595959"/>
                </a:solidFill>
                <a:latin typeface="Calibri"/>
              </a:rPr>
              <a:t>17</a:t>
            </a:r>
          </a:p>
        </p:txBody>
      </p:sp>
      <p:sp>
        <p:nvSpPr>
          <p:cNvPr id="5" name="TextBox 4"/>
          <p:cNvSpPr txBox="1"/>
          <p:nvPr/>
        </p:nvSpPr>
        <p:spPr>
          <a:xfrm>
            <a:off x="640080" y="1463040"/>
            <a:ext cx="10972800" cy="4206240"/>
          </a:xfrm>
          <a:prstGeom prst="rect">
            <a:avLst/>
          </a:prstGeom>
          <a:noFill/>
        </p:spPr>
        <p:txBody>
          <a:bodyPr wrap="square">
            <a:spAutoFit/>
          </a:bodyPr>
          <a:lstStyle/>
          <a:p>
            <a:pPr algn="l">
              <a:spcAft>
                <a:spcPts val="800"/>
              </a:spcAft>
            </a:pPr>
            <a:r>
              <a:rPr sz="1600" b="0" i="0">
                <a:solidFill>
                  <a:srgbClr val="222222"/>
                </a:solidFill>
                <a:latin typeface="Calibri"/>
              </a:rPr>
              <a:t>•  cd extracted/drl-sim &amp;&amp; pip install -r requirements.txt &amp;&amp; make test</a:t>
            </a:r>
          </a:p>
          <a:p>
            <a:pPr algn="l">
              <a:spcAft>
                <a:spcPts val="800"/>
              </a:spcAft>
            </a:pPr>
            <a:r>
              <a:rPr sz="1600" b="0" i="0">
                <a:solidFill>
                  <a:srgbClr val="222222"/>
                </a:solidFill>
                <a:latin typeface="Calibri"/>
              </a:rPr>
              <a:t>•  python experiments/run_all.py        # ~30 min, writes results/*.json and results/*.png</a:t>
            </a:r>
          </a:p>
          <a:p>
            <a:pPr algn="l">
              <a:spcAft>
                <a:spcPts val="800"/>
              </a:spcAft>
            </a:pPr>
            <a:r>
              <a:rPr sz="1600" b="0" i="0">
                <a:solidFill>
                  <a:srgbClr val="222222"/>
                </a:solidFill>
                <a:latin typeface="Calibri"/>
              </a:rPr>
              <a:t>•  python docs/make_slides.py            # this deck</a:t>
            </a:r>
          </a:p>
          <a:p>
            <a:pPr algn="l">
              <a:spcAft>
                <a:spcPts val="800"/>
              </a:spcAft>
            </a:pPr>
            <a:r>
              <a:rPr sz="1600" b="0" i="0">
                <a:solidFill>
                  <a:srgbClr val="222222"/>
                </a:solidFill>
                <a:latin typeface="Calibri"/>
              </a:rPr>
              <a:t>•  python docs/make_comparison_pdf.py    # the 6-page comparison PDF</a:t>
            </a:r>
          </a:p>
          <a:p>
            <a:pPr algn="l">
              <a:spcAft>
                <a:spcPts val="1400"/>
              </a:spcAft>
            </a:pPr>
            <a:r>
              <a:rPr sz="1600" b="0" i="0">
                <a:solidFill>
                  <a:srgbClr val="222222"/>
                </a:solidFill>
                <a:latin typeface="Calibri"/>
              </a:rPr>
              <a:t>•  python docs/make_contexts_pdf.py      # the contexts PDF (surrogate, unsafe reduction)</a:t>
            </a:r>
          </a:p>
          <a:p>
            <a:pPr algn="l">
              <a:spcAft>
                <a:spcPts val="1400"/>
              </a:spcAft>
            </a:pPr>
            <a:r>
              <a:rPr sz="1600" b="0" i="0">
                <a:solidFill>
                  <a:srgbClr val="222222"/>
                </a:solidFill>
                <a:latin typeface="Calibri"/>
              </a:rPr>
              <a:t>•  Documentation: docs/simulation_methodology.md (model, conditions, how every number is computed) and docs/results.md (all results).</a:t>
            </a:r>
          </a:p>
          <a:p>
            <a:pPr algn="l">
              <a:spcAft>
                <a:spcPts val="0"/>
              </a:spcAft>
            </a:pPr>
            <a:r>
              <a:rPr sz="1600" b="0" i="1">
                <a:solidFill>
                  <a:srgbClr val="222222"/>
                </a:solidFill>
                <a:latin typeface="Calibri"/>
              </a:rPr>
              <a:t>•  Caveat: the Google / SHARCNet traces are NOT in this repository; the headline numbers here come from synthetic Zipf traffic and the paper's adversarial sequence.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